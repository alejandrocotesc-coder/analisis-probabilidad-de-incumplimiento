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Hola, soy [nombre], estudiante de último semestre de Economía y Administración en Los Andes. En siete minutos voy a mostrar cómo estimé la probabilidad de incumplimiento de ISA, ISAGEN, EPM, Celsia y Enel usando solo información pública, y qué encontré. El enunciado ofrecía tres caminos; los uní en un solo hilo con una misma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[0:20–1:10] Primero los datos. Todo sale de los XBRL de la Superfinanciera: 55 archivos, cinco emisores por once años. La librería que sugería la prueba, Arelle, falló porque el servidor de la SFC no entregaba la taxonomía, así que escribí un lector propio que lee el XML directo. Ese lector resiste cinco maneras distintas de reportar: elige los contextos por fecha, detecta si el archivo viene en pesos o en miles, y tiene cuentas alternativas para cada cifra. Los controles de calidad detectaron dos errores de las propias empresas —Celsia etiquetó mal sus ingresos de 2025 y EPM su deuda— y un ingreso extraordinario de ISA en 2016 que resté con la cifra exacta de la nota. Resultado: una tabla de 55 filas y 17 cifras, sin vacíos, con la misma fórmula de EBITDA para los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[1:10–1:35] El enfoque: no escogí un solo camino. El histórico dice cómo cambió cada emisor; el de probabilidad de incumplimiento convierte los ratios en una calificación y una PD; y el cuantitativo mira cómo se relacionan los indicadores y qué pasa si el entorno empeora. Una regla que me impuse: cada parámetro tiene una fuente pública. Umbrales y matriz de S&amp;P, tasas de default de Berk y DeMarzo, Moody's como cruce. Nada de pesos inventados.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[1:35–2:10] Camino histórico. Once años de EBITDA en barras y deuda sobre EBITDA en línea, ordenados de mejor a peor. Enel pasó de dos coma dos a cero coma tres veces: la fusión con Codensa duplicó el EBITDA y desde entonces la deuda baja. EPM tocó cuatro y medio con Hidroituango y ya bajó a dos coma seis. Celsia salió de seis veces en 2015, pero su EBITDA lleva tres años estancado. ISAGEN sufrió El Niño en 2016 y desde 2023 viene subiendo. E ISA es estable en tres a cuatro y medio; el pico de 2016 es un ingreso extraordinario que ajusté.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[2:10–2:40] La otra mitad de la historia: la cobertura de intereses, que es el ratio suplementario de S&amp;P. El apalancamiento dice cuánto deben; esto dice a qué precio. Enel llegó a dieciséis veces en 2021, su año de menor gasto financiero, y bajó a cinco cuando la fusión le trajo la deuda de Codensa. EPM cayó de cinco a tres veces porque su gasto financiero pasó de uno coma cuatro a tres coma tres billones en dos años. ISA es la más plana de todas. Celsia se desplomó en 2023 y sigue pegada al umbral. E ISAGEN lleva tres años por debajo de dos veces, que es la frontera del peor nivel de S&amp;P. Fíjense que las que cruzan el umbral no son las más endeudadas.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[2:40–3:10] Segunda mirada histórica: la liquidez. A la izquierda, la prueba de S&amp;P: caja más flujo generado, dividido entre deuda que vence, capex y dividendos. ISA cruza uno coma dos veces en 2020 y se queda arriba: se autofinancia. Los otros nunca cubren un año con su propia caja; dependen de refinanciar, que es normal en el sector cuando hay acceso a bancos. A la derecha, la razón corriente, que mi profesor me pidió incluir: cuenta la misma historia, y de hecho las dos medidas tienen una correlación de cero coma cincuenta. Una advertencia sobre esta prueba: las líneas de crédito comprometidas también cuentan como fuentes para S&amp;P, y ninguno de los cinco las revela. Por eso el tope de liquidez lo reporto como sensibilidad y no como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[3:10–3:45] El método. Repliqué la metodología pública de S&amp;P, que son cuatro pasos. Deuda sobre EBITDA da el nivel, de uno a seis, con la tabla de volatilidad media para los negocios regulados y la estándar para los generadores. Ese nivel se ajusta con el ratio suplementario, la cobertura de intereses, que lo mueve un escalón cuando los dos niveles distan dos o más, y así queda el perfil financiero. El perfil financiero se cruza con el perfil de negocio en la matriz que ven abajo, y la casilla es la clasificación. Y esa clasificación se traduce a probabilidad de incumplimiento con las tasas históricas de Berk y DeMarzo. Nada de esto lleva pesos inventados: todos los umbrales y la matriz son de la metodología publicada.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[3:45–4:35] Y este es el resultado. Los dos ratios dan el perfil financiero, y ese perfil se cruza con el perfil de negocio en la matriz de S&amp;P. Enel queda en a más; EPM en triple b; ISA en la frontera triple b menos; Celsia e ISAGEN en doble b menos con una PD de dos coma dos por ciento. Lo más interesante está en ISA y Celsia: los dos tienen el mismo perfil financiero, nivel cuatro, y sin embargo quedan a dos escalones de distancia. Lo que los separa no es el balance sino el negocio: ISA es transmisión regulada con ingresos contratados, Celsia es generación expuesta al clima, y tiene la volatilidad de margen más alta de las cinco. Si hubiera supuesto el mismo perfil de negocio para todos, como hace la mayoría de replicaciones, ese hallazgo no aparece.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[4:35–5:15] Antes del camino cuantitativo, un contraste externo con un modelo que no mira lo mismo. Altman mide estructura de balance, no flujo, y sus coeficientes están publicados, así que no hay nada que estimar. El resultado coincide con el mío en los extremos: EPM y Enel arriba, ISAGEN y Celsia abajo. Donde discrepa es en ISA: Altman la castiga porque sus utilidades retenidas son pequeñas frente al activo, es una empresa que reparte casi todo. Y Celsia es la más castigada por los dos modelos, pero por razones distintas: S&amp;P por la volatilidad de su margen, Altman porque es la única de las cinco con utilidades retenidas negativas.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[5:15–5:55] Camino cuantitativo: qué pasa si el entorno empeora. Tomé las cifras de 2025 y apliqué golpes que ya están en la serie: EBITDA menos veinte por ciento —un golpe intermedio, porque en El Niño de 2016 ISAGEN cayó casi treinta— e intereses más treinta por ciento, como la subida de tasas de 2022 y 2023. Enel y EPM aguantan. ISA cruza el umbral de dos veces solo con los dos golpes juntos, y uno de ellos no le aplica porque es transmisión regulada. ISAGEN ya está por debajo de dos sin ningún golpe, y Celsia cruza con cualquiera de los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[6:15–7:00] Para cerrar, cuatro conclusiones. La primera: el apalancamiento solo no basta. ISA es la más endeudada de las cinco y queda tercera, porque su deuda es la más barata y su negocio es regulado. La segunda: el negocio pesa tanto como el balance. ISA y Celsia tienen el mismo perfil financiero y terminan a dos escalones de distancia, solo por el perfil de negocio; si lo hubiera supuesto igual para todos, como hace la mayoría de replicaciones, ese hallazgo no aparece. La tercera: dos modelos con insumos distintos coinciden en cuatro de cinco, y donde discrepan, en ISA, no hay árbitro porque ninguno de los cinco tiene calificación de agencia. Y la cuarta: la liquidez es la que rompe el empate entre Celsia e ISAGEN. Declaro las limitaciones que ven abajo. Todo el código, los cincuenta y cinco XBRL y el informe están en el repositorio.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554480"/>
            <a:ext cx="11091672"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Probabilidad de incumplimiento de cinco emisores de energía en Colombia</a:t>
            </a:r>
            <a:endParaRPr lang="en-US" sz="3800" dirty="0"/>
          </a:p>
        </p:txBody>
      </p:sp>
      <p:sp>
        <p:nvSpPr>
          <p:cNvPr id="3" name="Text 1"/>
          <p:cNvSpPr txBox="1"/>
          <p:nvPr/>
        </p:nvSpPr>
        <p:spPr>
          <a:xfrm>
            <a:off x="548640" y="3063240"/>
            <a:ext cx="11091672"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ISA · ISAGEN · EPM · Celsia · Enel Colombia  |  2015 – 2025</a:t>
            </a:r>
            <a:endParaRPr lang="en-US" sz="2000" dirty="0"/>
          </a:p>
        </p:txBody>
      </p:sp>
      <p:sp>
        <p:nvSpPr>
          <p:cNvPr id="4" name="Text 2"/>
          <p:cNvSpPr txBox="1"/>
          <p:nvPr/>
        </p:nvSpPr>
        <p:spPr>
          <a:xfrm>
            <a:off x="548640" y="3611880"/>
            <a:ext cx="11091672"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Tres caminos con una sola base de datos: histórico, probabilidad de incumplimiento y cuantitativo</a:t>
            </a:r>
            <a:endParaRPr lang="en-US" sz="1600" dirty="0"/>
          </a:p>
        </p:txBody>
      </p:sp>
      <p:sp>
        <p:nvSpPr>
          <p:cNvPr id="5" name="Text 3"/>
          <p:cNvSpPr txBox="1"/>
          <p:nvPr/>
        </p:nvSpPr>
        <p:spPr>
          <a:xfrm>
            <a:off x="548640" y="5760720"/>
            <a:ext cx="11091672"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Prueba técnica · Práctica 2027-1 · Dirección Mercado de Deuda y Capital · Bancolombia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Los datos se construyeron, no se descargaron</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55 archivos XBRL de la Superfinanciera (SIMEV / RNVE) · 5 emisores × 11 años · 17 cifras por emisor y año</a:t>
            </a:r>
            <a:endParaRPr lang="en-US" sz="1400" dirty="0"/>
          </a:p>
        </p:txBody>
      </p:sp>
      <p:sp>
        <p:nvSpPr>
          <p:cNvPr id="4" name="Shape 2"/>
          <p:cNvSpPr/>
          <p:nvPr/>
        </p:nvSpPr>
        <p:spPr>
          <a:xfrm>
            <a:off x="548640" y="1645920"/>
            <a:ext cx="384048" cy="384048"/>
          </a:xfrm>
          <a:prstGeom prst="ellipse">
            <a:avLst/>
          </a:prstGeom>
          <a:solidFill>
            <a:srgbClr val="1E2761"/>
          </a:solidFill>
          <a:ln w="12700">
            <a:solidFill>
              <a:srgbClr val="1E2761"/>
            </a:solidFill>
            <a:prstDash val="solid"/>
          </a:ln>
        </p:spPr>
      </p:sp>
      <p:sp>
        <p:nvSpPr>
          <p:cNvPr id="5" name="Text 3"/>
          <p:cNvSpPr txBox="1"/>
          <p:nvPr/>
        </p:nvSpPr>
        <p:spPr>
          <a:xfrm>
            <a:off x="54864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600200"/>
            <a:ext cx="48463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XBRL oficiales</a:t>
            </a:r>
            <a:endParaRPr lang="en-US" sz="1600" dirty="0"/>
          </a:p>
        </p:txBody>
      </p:sp>
      <p:sp>
        <p:nvSpPr>
          <p:cNvPr id="7" name="Text 5"/>
          <p:cNvSpPr txBox="1"/>
          <p:nvPr/>
        </p:nvSpPr>
        <p:spPr>
          <a:xfrm>
            <a:off x="1097280" y="1965960"/>
            <a:ext cx="5669280" cy="6858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Estados financieros anuales 2015–2025, consolidados</a:t>
            </a:r>
            <a:endParaRPr lang="en-US" sz="1250" dirty="0"/>
          </a:p>
        </p:txBody>
      </p:sp>
      <p:sp>
        <p:nvSpPr>
          <p:cNvPr id="8" name="Shape 6"/>
          <p:cNvSpPr/>
          <p:nvPr/>
        </p:nvSpPr>
        <p:spPr>
          <a:xfrm>
            <a:off x="548640" y="3063240"/>
            <a:ext cx="384048" cy="384048"/>
          </a:xfrm>
          <a:prstGeom prst="ellipse">
            <a:avLst/>
          </a:prstGeom>
          <a:solidFill>
            <a:srgbClr val="1E2761"/>
          </a:solidFill>
          <a:ln w="12700">
            <a:solidFill>
              <a:srgbClr val="1E2761"/>
            </a:solidFill>
            <a:prstDash val="solid"/>
          </a:ln>
        </p:spPr>
      </p:sp>
      <p:sp>
        <p:nvSpPr>
          <p:cNvPr id="9" name="Text 7"/>
          <p:cNvSpPr txBox="1"/>
          <p:nvPr/>
        </p:nvSpPr>
        <p:spPr>
          <a:xfrm>
            <a:off x="548640" y="3063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3017520"/>
            <a:ext cx="48463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Lector propio en Python</a:t>
            </a:r>
            <a:endParaRPr lang="en-US" sz="1600" dirty="0"/>
          </a:p>
        </p:txBody>
      </p:sp>
      <p:sp>
        <p:nvSpPr>
          <p:cNvPr id="11" name="Text 9"/>
          <p:cNvSpPr txBox="1"/>
          <p:nvPr/>
        </p:nvSpPr>
        <p:spPr>
          <a:xfrm>
            <a:off x="1097280" y="3383280"/>
            <a:ext cx="5669280" cy="6858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Arelle falló (servidor de la SFC caído). Se lee el XML directo con lxml: contextos por fecha, escala automática, cuentas alternativas</a:t>
            </a:r>
            <a:endParaRPr lang="en-US" sz="1250" dirty="0"/>
          </a:p>
        </p:txBody>
      </p:sp>
      <p:sp>
        <p:nvSpPr>
          <p:cNvPr id="12" name="Shape 10"/>
          <p:cNvSpPr/>
          <p:nvPr/>
        </p:nvSpPr>
        <p:spPr>
          <a:xfrm>
            <a:off x="548640" y="4480560"/>
            <a:ext cx="384048" cy="384048"/>
          </a:xfrm>
          <a:prstGeom prst="ellipse">
            <a:avLst/>
          </a:prstGeom>
          <a:solidFill>
            <a:srgbClr val="1E2761"/>
          </a:solidFill>
          <a:ln w="12700">
            <a:solidFill>
              <a:srgbClr val="1E2761"/>
            </a:solidFill>
            <a:prstDash val="solid"/>
          </a:ln>
        </p:spPr>
      </p:sp>
      <p:sp>
        <p:nvSpPr>
          <p:cNvPr id="13" name="Text 11"/>
          <p:cNvSpPr txBox="1"/>
          <p:nvPr/>
        </p:nvSpPr>
        <p:spPr>
          <a:xfrm>
            <a:off x="548640"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97280" y="4434840"/>
            <a:ext cx="48463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Una tabla limpia</a:t>
            </a:r>
            <a:endParaRPr lang="en-US" sz="1600" dirty="0"/>
          </a:p>
        </p:txBody>
      </p:sp>
      <p:sp>
        <p:nvSpPr>
          <p:cNvPr id="15" name="Text 13"/>
          <p:cNvSpPr txBox="1"/>
          <p:nvPr/>
        </p:nvSpPr>
        <p:spPr>
          <a:xfrm>
            <a:off x="1097280" y="4800600"/>
            <a:ext cx="5669280" cy="6858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55 filas × 17 cifras en billones de pesos, cero vacíos. Misma fórmula de EBITDA para los cinco</a:t>
            </a:r>
            <a:endParaRPr lang="en-US" sz="1250" dirty="0"/>
          </a:p>
        </p:txBody>
      </p:sp>
      <p:sp>
        <p:nvSpPr>
          <p:cNvPr id="16" name="Shape 14"/>
          <p:cNvSpPr/>
          <p:nvPr/>
        </p:nvSpPr>
        <p:spPr>
          <a:xfrm>
            <a:off x="7132320" y="1600200"/>
            <a:ext cx="2194560" cy="1828800"/>
          </a:xfrm>
          <a:prstGeom prst="roundRect">
            <a:avLst>
              <a:gd name="adj" fmla="val 4000"/>
            </a:avLst>
          </a:prstGeom>
          <a:solidFill>
            <a:srgbClr val="F3F5FA"/>
          </a:solidFill>
          <a:ln w="12700">
            <a:solidFill>
              <a:srgbClr val="F3F5FA"/>
            </a:solidFill>
            <a:prstDash val="solid"/>
          </a:ln>
        </p:spPr>
      </p:sp>
      <p:sp>
        <p:nvSpPr>
          <p:cNvPr id="17" name="Text 15"/>
          <p:cNvSpPr txBox="1"/>
          <p:nvPr/>
        </p:nvSpPr>
        <p:spPr>
          <a:xfrm>
            <a:off x="7132320" y="1783080"/>
            <a:ext cx="2194560" cy="9144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55</a:t>
            </a:r>
            <a:endParaRPr lang="en-US" sz="5400" dirty="0"/>
          </a:p>
        </p:txBody>
      </p:sp>
      <p:sp>
        <p:nvSpPr>
          <p:cNvPr id="18" name="Text 16"/>
          <p:cNvSpPr txBox="1"/>
          <p:nvPr/>
        </p:nvSpPr>
        <p:spPr>
          <a:xfrm>
            <a:off x="7269480" y="2743200"/>
            <a:ext cx="1920240" cy="5486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archivos XBRL leídos</a:t>
            </a:r>
            <a:endParaRPr lang="en-US" sz="1200" dirty="0"/>
          </a:p>
        </p:txBody>
      </p:sp>
      <p:sp>
        <p:nvSpPr>
          <p:cNvPr id="19" name="Shape 17"/>
          <p:cNvSpPr/>
          <p:nvPr/>
        </p:nvSpPr>
        <p:spPr>
          <a:xfrm>
            <a:off x="9509760" y="1600200"/>
            <a:ext cx="2194560" cy="1828800"/>
          </a:xfrm>
          <a:prstGeom prst="roundRect">
            <a:avLst>
              <a:gd name="adj" fmla="val 4000"/>
            </a:avLst>
          </a:prstGeom>
          <a:solidFill>
            <a:srgbClr val="F3F5FA"/>
          </a:solidFill>
          <a:ln w="12700">
            <a:solidFill>
              <a:srgbClr val="F3F5FA"/>
            </a:solidFill>
            <a:prstDash val="solid"/>
          </a:ln>
        </p:spPr>
      </p:sp>
      <p:sp>
        <p:nvSpPr>
          <p:cNvPr id="20" name="Text 18"/>
          <p:cNvSpPr txBox="1"/>
          <p:nvPr/>
        </p:nvSpPr>
        <p:spPr>
          <a:xfrm>
            <a:off x="9509760" y="1783080"/>
            <a:ext cx="2194560" cy="9144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17</a:t>
            </a:r>
            <a:endParaRPr lang="en-US" sz="5400" dirty="0"/>
          </a:p>
        </p:txBody>
      </p:sp>
      <p:sp>
        <p:nvSpPr>
          <p:cNvPr id="21" name="Text 19"/>
          <p:cNvSpPr txBox="1"/>
          <p:nvPr/>
        </p:nvSpPr>
        <p:spPr>
          <a:xfrm>
            <a:off x="9646920" y="2743200"/>
            <a:ext cx="1920240" cy="5486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cifras por emisor y año</a:t>
            </a:r>
            <a:endParaRPr lang="en-US" sz="1200" dirty="0"/>
          </a:p>
        </p:txBody>
      </p:sp>
      <p:sp>
        <p:nvSpPr>
          <p:cNvPr id="22" name="Shape 20"/>
          <p:cNvSpPr/>
          <p:nvPr/>
        </p:nvSpPr>
        <p:spPr>
          <a:xfrm>
            <a:off x="7132320" y="3703320"/>
            <a:ext cx="2194560" cy="1828800"/>
          </a:xfrm>
          <a:prstGeom prst="roundRect">
            <a:avLst>
              <a:gd name="adj" fmla="val 4000"/>
            </a:avLst>
          </a:prstGeom>
          <a:solidFill>
            <a:srgbClr val="F3F5FA"/>
          </a:solidFill>
          <a:ln w="12700">
            <a:solidFill>
              <a:srgbClr val="F3F5FA"/>
            </a:solidFill>
            <a:prstDash val="solid"/>
          </a:ln>
        </p:spPr>
      </p:sp>
      <p:sp>
        <p:nvSpPr>
          <p:cNvPr id="23" name="Text 21"/>
          <p:cNvSpPr txBox="1"/>
          <p:nvPr/>
        </p:nvSpPr>
        <p:spPr>
          <a:xfrm>
            <a:off x="7132320" y="3886200"/>
            <a:ext cx="2194560" cy="9144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0</a:t>
            </a:r>
            <a:endParaRPr lang="en-US" sz="5400" dirty="0"/>
          </a:p>
        </p:txBody>
      </p:sp>
      <p:sp>
        <p:nvSpPr>
          <p:cNvPr id="24" name="Text 22"/>
          <p:cNvSpPr txBox="1"/>
          <p:nvPr/>
        </p:nvSpPr>
        <p:spPr>
          <a:xfrm>
            <a:off x="7269480" y="4846320"/>
            <a:ext cx="1920240" cy="5486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vacíos en la tabla final</a:t>
            </a:r>
            <a:endParaRPr lang="en-US" sz="1200" dirty="0"/>
          </a:p>
        </p:txBody>
      </p:sp>
      <p:sp>
        <p:nvSpPr>
          <p:cNvPr id="25" name="Shape 23"/>
          <p:cNvSpPr/>
          <p:nvPr/>
        </p:nvSpPr>
        <p:spPr>
          <a:xfrm>
            <a:off x="9509760" y="3703320"/>
            <a:ext cx="2194560" cy="1828800"/>
          </a:xfrm>
          <a:prstGeom prst="roundRect">
            <a:avLst>
              <a:gd name="adj" fmla="val 4000"/>
            </a:avLst>
          </a:prstGeom>
          <a:solidFill>
            <a:srgbClr val="F3F5FA"/>
          </a:solidFill>
          <a:ln w="12700">
            <a:solidFill>
              <a:srgbClr val="F3F5FA"/>
            </a:solidFill>
            <a:prstDash val="solid"/>
          </a:ln>
        </p:spPr>
      </p:sp>
      <p:sp>
        <p:nvSpPr>
          <p:cNvPr id="26" name="Text 24"/>
          <p:cNvSpPr txBox="1"/>
          <p:nvPr/>
        </p:nvSpPr>
        <p:spPr>
          <a:xfrm>
            <a:off x="9509760" y="3886200"/>
            <a:ext cx="2194560" cy="9144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11</a:t>
            </a:r>
            <a:endParaRPr lang="en-US" sz="5400" dirty="0"/>
          </a:p>
        </p:txBody>
      </p:sp>
      <p:sp>
        <p:nvSpPr>
          <p:cNvPr id="27" name="Text 25"/>
          <p:cNvSpPr txBox="1"/>
          <p:nvPr/>
        </p:nvSpPr>
        <p:spPr>
          <a:xfrm>
            <a:off x="9646920" y="4846320"/>
            <a:ext cx="1920240" cy="5486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años por emisor, 2015–2025</a:t>
            </a:r>
            <a:endParaRPr lang="en-US" sz="1200" dirty="0"/>
          </a:p>
        </p:txBody>
      </p:sp>
      <p:sp>
        <p:nvSpPr>
          <p:cNvPr id="28" name="Text 26"/>
          <p:cNvSpPr txBox="1"/>
          <p:nvPr/>
        </p:nvSpPr>
        <p:spPr>
          <a:xfrm>
            <a:off x="548640" y="612648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Fuente: SIMEV / RNVE, Superintendencia Financiera. Todo el código y los 55 archivos están en el repositorio.</a:t>
            </a:r>
            <a:endParaRPr lang="en-US" sz="1000" dirty="0"/>
          </a:p>
        </p:txBody>
      </p:sp>
      <p:sp>
        <p:nvSpPr>
          <p:cNvPr id="29" name="Text 27"/>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Tres caminos, un solo hilo</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Cada camino responde una pregunta distinta; los tres usan la misma tabla</a:t>
            </a:r>
            <a:endParaRPr lang="en-US" sz="1400" dirty="0"/>
          </a:p>
        </p:txBody>
      </p:sp>
      <p:sp>
        <p:nvSpPr>
          <p:cNvPr id="4" name="Shape 2"/>
          <p:cNvSpPr/>
          <p:nvPr/>
        </p:nvSpPr>
        <p:spPr>
          <a:xfrm>
            <a:off x="548640" y="1554480"/>
            <a:ext cx="3520440" cy="3931920"/>
          </a:xfrm>
          <a:prstGeom prst="roundRect">
            <a:avLst>
              <a:gd name="adj" fmla="val 2078"/>
            </a:avLst>
          </a:prstGeom>
          <a:solidFill>
            <a:srgbClr val="F3F5FA"/>
          </a:solidFill>
          <a:ln w="12700">
            <a:solidFill>
              <a:srgbClr val="F3F5FA"/>
            </a:solidFill>
            <a:prstDash val="solid"/>
          </a:ln>
        </p:spPr>
      </p:sp>
      <p:sp>
        <p:nvSpPr>
          <p:cNvPr id="5" name="Shape 3"/>
          <p:cNvSpPr/>
          <p:nvPr/>
        </p:nvSpPr>
        <p:spPr>
          <a:xfrm>
            <a:off x="822960" y="1828800"/>
            <a:ext cx="457200" cy="457200"/>
          </a:xfrm>
          <a:prstGeom prst="ellipse">
            <a:avLst/>
          </a:prstGeom>
          <a:solidFill>
            <a:srgbClr val="0072B2"/>
          </a:solidFill>
          <a:ln w="12700">
            <a:solidFill>
              <a:srgbClr val="0072B2"/>
            </a:solidFill>
            <a:prstDash val="solid"/>
          </a:ln>
        </p:spPr>
      </p:sp>
      <p:sp>
        <p:nvSpPr>
          <p:cNvPr id="6" name="Text 4"/>
          <p:cNvSpPr txBox="1"/>
          <p:nvPr/>
        </p:nvSpPr>
        <p:spPr>
          <a:xfrm>
            <a:off x="82296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822960" y="2423160"/>
            <a:ext cx="2971800" cy="731520"/>
          </a:xfrm>
          <a:prstGeom prst="rect">
            <a:avLst/>
          </a:prstGeom>
          <a:noFill/>
          <a:ln/>
        </p:spPr>
        <p:txBody>
          <a:bodyPr wrap="square" lIns="0" tIns="0" rIns="0" bIns="0" rtlCol="0" anchor="t"/>
          <a:lstStyle/>
          <a:p>
            <a:pPr indent="0" marL="0">
              <a:buNone/>
            </a:pPr>
            <a:r>
              <a:rPr lang="en-US" sz="2000" b="1" dirty="0">
                <a:solidFill>
                  <a:srgbClr val="1E2761"/>
                </a:solidFill>
                <a:latin typeface="Cambria" pitchFamily="34" charset="0"/>
                <a:ea typeface="Cambria" pitchFamily="34" charset="-122"/>
                <a:cs typeface="Cambria" pitchFamily="34" charset="-120"/>
              </a:rPr>
              <a:t>Histórico</a:t>
            </a:r>
            <a:endParaRPr lang="en-US" sz="2000" dirty="0"/>
          </a:p>
        </p:txBody>
      </p:sp>
      <p:sp>
        <p:nvSpPr>
          <p:cNvPr id="8" name="Text 6"/>
          <p:cNvSpPr txBox="1"/>
          <p:nvPr/>
        </p:nvSpPr>
        <p:spPr>
          <a:xfrm>
            <a:off x="822960" y="3200400"/>
            <a:ext cx="2971800" cy="914400"/>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¿Cómo ha cambiado la capacidad de pago en once años?</a:t>
            </a:r>
            <a:endParaRPr lang="en-US" sz="1300" dirty="0"/>
          </a:p>
        </p:txBody>
      </p:sp>
      <p:sp>
        <p:nvSpPr>
          <p:cNvPr id="9" name="Text 7"/>
          <p:cNvSpPr txBox="1"/>
          <p:nvPr/>
        </p:nvSpPr>
        <p:spPr>
          <a:xfrm>
            <a:off x="822960" y="4160520"/>
            <a:ext cx="2971800" cy="11887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Ratios y figuras 2015–2025: EBITDA, deuda/EBITDA, liquidez, razón corriente</a:t>
            </a:r>
            <a:endParaRPr lang="en-US" sz="1200" dirty="0"/>
          </a:p>
        </p:txBody>
      </p:sp>
      <p:sp>
        <p:nvSpPr>
          <p:cNvPr id="10" name="Shape 8"/>
          <p:cNvSpPr/>
          <p:nvPr/>
        </p:nvSpPr>
        <p:spPr>
          <a:xfrm>
            <a:off x="4297680" y="1554480"/>
            <a:ext cx="3520440" cy="3931920"/>
          </a:xfrm>
          <a:prstGeom prst="roundRect">
            <a:avLst>
              <a:gd name="adj" fmla="val 2078"/>
            </a:avLst>
          </a:prstGeom>
          <a:solidFill>
            <a:srgbClr val="F3F5FA"/>
          </a:solidFill>
          <a:ln w="12700">
            <a:solidFill>
              <a:srgbClr val="F3F5FA"/>
            </a:solidFill>
            <a:prstDash val="solid"/>
          </a:ln>
        </p:spPr>
      </p:sp>
      <p:sp>
        <p:nvSpPr>
          <p:cNvPr id="11" name="Shape 9"/>
          <p:cNvSpPr/>
          <p:nvPr/>
        </p:nvSpPr>
        <p:spPr>
          <a:xfrm>
            <a:off x="4572000" y="1828800"/>
            <a:ext cx="457200" cy="457200"/>
          </a:xfrm>
          <a:prstGeom prst="ellipse">
            <a:avLst/>
          </a:prstGeom>
          <a:solidFill>
            <a:srgbClr val="009E73"/>
          </a:solidFill>
          <a:ln w="12700">
            <a:solidFill>
              <a:srgbClr val="009E73"/>
            </a:solidFill>
            <a:prstDash val="solid"/>
          </a:ln>
        </p:spPr>
      </p:sp>
      <p:sp>
        <p:nvSpPr>
          <p:cNvPr id="12" name="Text 10"/>
          <p:cNvSpPr txBox="1"/>
          <p:nvPr/>
        </p:nvSpPr>
        <p:spPr>
          <a:xfrm>
            <a:off x="457200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572000" y="2423160"/>
            <a:ext cx="2971800" cy="731520"/>
          </a:xfrm>
          <a:prstGeom prst="rect">
            <a:avLst/>
          </a:prstGeom>
          <a:noFill/>
          <a:ln/>
        </p:spPr>
        <p:txBody>
          <a:bodyPr wrap="square" lIns="0" tIns="0" rIns="0" bIns="0" rtlCol="0" anchor="t"/>
          <a:lstStyle/>
          <a:p>
            <a:pPr indent="0" marL="0">
              <a:buNone/>
            </a:pPr>
            <a:r>
              <a:rPr lang="en-US" sz="2000" b="1" dirty="0">
                <a:solidFill>
                  <a:srgbClr val="1E2761"/>
                </a:solidFill>
                <a:latin typeface="Cambria" pitchFamily="34" charset="0"/>
                <a:ea typeface="Cambria" pitchFamily="34" charset="-122"/>
                <a:cs typeface="Cambria" pitchFamily="34" charset="-120"/>
              </a:rPr>
              <a:t>Probabilidad de incumplimiento</a:t>
            </a:r>
            <a:endParaRPr lang="en-US" sz="2000" dirty="0"/>
          </a:p>
        </p:txBody>
      </p:sp>
      <p:sp>
        <p:nvSpPr>
          <p:cNvPr id="14" name="Text 12"/>
          <p:cNvSpPr txBox="1"/>
          <p:nvPr/>
        </p:nvSpPr>
        <p:spPr>
          <a:xfrm>
            <a:off x="4572000" y="3200400"/>
            <a:ext cx="2971800" cy="914400"/>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¿Qué tan probable es que no pague, y qué lo explica?</a:t>
            </a:r>
            <a:endParaRPr lang="en-US" sz="1300" dirty="0"/>
          </a:p>
        </p:txBody>
      </p:sp>
      <p:sp>
        <p:nvSpPr>
          <p:cNvPr id="15" name="Text 13"/>
          <p:cNvSpPr txBox="1"/>
          <p:nvPr/>
        </p:nvSpPr>
        <p:spPr>
          <a:xfrm>
            <a:off x="4572000" y="4160520"/>
            <a:ext cx="2971800" cy="11887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Scorecard de S&amp;P: perfil de negocio y perfil financiero → clasificación → PD (Berk &amp; DeMarzo). Contraste con el modelo Z de Altman</a:t>
            </a:r>
            <a:endParaRPr lang="en-US" sz="1200" dirty="0"/>
          </a:p>
        </p:txBody>
      </p:sp>
      <p:sp>
        <p:nvSpPr>
          <p:cNvPr id="16" name="Shape 14"/>
          <p:cNvSpPr/>
          <p:nvPr/>
        </p:nvSpPr>
        <p:spPr>
          <a:xfrm>
            <a:off x="8046720" y="1554480"/>
            <a:ext cx="3520440" cy="3931920"/>
          </a:xfrm>
          <a:prstGeom prst="roundRect">
            <a:avLst>
              <a:gd name="adj" fmla="val 2078"/>
            </a:avLst>
          </a:prstGeom>
          <a:solidFill>
            <a:srgbClr val="F3F5FA"/>
          </a:solidFill>
          <a:ln w="12700">
            <a:solidFill>
              <a:srgbClr val="F3F5FA"/>
            </a:solidFill>
            <a:prstDash val="solid"/>
          </a:ln>
        </p:spPr>
      </p:sp>
      <p:sp>
        <p:nvSpPr>
          <p:cNvPr id="17" name="Shape 15"/>
          <p:cNvSpPr/>
          <p:nvPr/>
        </p:nvSpPr>
        <p:spPr>
          <a:xfrm>
            <a:off x="8321040" y="1828800"/>
            <a:ext cx="457200" cy="457200"/>
          </a:xfrm>
          <a:prstGeom prst="ellipse">
            <a:avLst/>
          </a:prstGeom>
          <a:solidFill>
            <a:srgbClr val="7B3294"/>
          </a:solidFill>
          <a:ln w="12700">
            <a:solidFill>
              <a:srgbClr val="7B3294"/>
            </a:solidFill>
            <a:prstDash val="solid"/>
          </a:ln>
        </p:spPr>
      </p:sp>
      <p:sp>
        <p:nvSpPr>
          <p:cNvPr id="18" name="Text 16"/>
          <p:cNvSpPr txBox="1"/>
          <p:nvPr/>
        </p:nvSpPr>
        <p:spPr>
          <a:xfrm>
            <a:off x="832104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321040" y="2423160"/>
            <a:ext cx="2971800" cy="731520"/>
          </a:xfrm>
          <a:prstGeom prst="rect">
            <a:avLst/>
          </a:prstGeom>
          <a:noFill/>
          <a:ln/>
        </p:spPr>
        <p:txBody>
          <a:bodyPr wrap="square" lIns="0" tIns="0" rIns="0" bIns="0" rtlCol="0" anchor="t"/>
          <a:lstStyle/>
          <a:p>
            <a:pPr indent="0" marL="0">
              <a:buNone/>
            </a:pPr>
            <a:r>
              <a:rPr lang="en-US" sz="2000" b="1" dirty="0">
                <a:solidFill>
                  <a:srgbClr val="1E2761"/>
                </a:solidFill>
                <a:latin typeface="Cambria" pitchFamily="34" charset="0"/>
                <a:ea typeface="Cambria" pitchFamily="34" charset="-122"/>
                <a:cs typeface="Cambria" pitchFamily="34" charset="-120"/>
              </a:rPr>
              <a:t>Cuantitativo</a:t>
            </a:r>
            <a:endParaRPr lang="en-US" sz="2000" dirty="0"/>
          </a:p>
        </p:txBody>
      </p:sp>
      <p:sp>
        <p:nvSpPr>
          <p:cNvPr id="20" name="Text 18"/>
          <p:cNvSpPr txBox="1"/>
          <p:nvPr/>
        </p:nvSpPr>
        <p:spPr>
          <a:xfrm>
            <a:off x="8321040" y="3200400"/>
            <a:ext cx="2971800" cy="914400"/>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¿Cómo se relacionan los indicadores y qué pasa si el entorno empeora?</a:t>
            </a:r>
            <a:endParaRPr lang="en-US" sz="1300" dirty="0"/>
          </a:p>
        </p:txBody>
      </p:sp>
      <p:sp>
        <p:nvSpPr>
          <p:cNvPr id="21" name="Text 19"/>
          <p:cNvSpPr txBox="1"/>
          <p:nvPr/>
        </p:nvSpPr>
        <p:spPr>
          <a:xfrm>
            <a:off x="8321040" y="4160520"/>
            <a:ext cx="2971800" cy="11887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Correlaciones entre indicadores (55 obs.) · prueba de estrés · todo el detalle en el repositorio</a:t>
            </a:r>
            <a:endParaRPr lang="en-US" sz="1200" dirty="0"/>
          </a:p>
        </p:txBody>
      </p:sp>
      <p:sp>
        <p:nvSpPr>
          <p:cNvPr id="22" name="Text 20"/>
          <p:cNvSpPr txBox="1"/>
          <p:nvPr/>
        </p:nvSpPr>
        <p:spPr>
          <a:xfrm>
            <a:off x="548640" y="5760720"/>
            <a:ext cx="11091672"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Cada parámetro del método tiene fuente pública: S&amp;P Global Ratings (Corporate Methodology 2024; Liquidity Descriptors 2014), Berk &amp; DeMarzo (Corporate Finance), Moody's como referencia cruzada.</a:t>
            </a:r>
            <a:endParaRPr lang="en-US" sz="1200" dirty="0"/>
          </a:p>
        </p:txBody>
      </p:sp>
      <p:sp>
        <p:nvSpPr>
          <p:cNvPr id="23" name="Text 21"/>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Camino histórico: EBITDA y apalancamiento, 2015–2025</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Barras: EBITDA (billones COP). Línea: deuda / EBITDA. Línea gris: 3x. Paneles ordenados de menor a mayor deuda/EBITDA en 2025</a:t>
            </a:r>
            <a:endParaRPr lang="en-US" sz="1400" dirty="0"/>
          </a:p>
        </p:txBody>
      </p:sp>
      <p:pic>
        <p:nvPicPr>
          <p:cNvPr id="4" name="Image 0" descr="fig1_ebitda_deuda.png">    </p:cNvPr>
          <p:cNvPicPr>
            <a:picLocks noChangeAspect="1"/>
          </p:cNvPicPr>
          <p:nvPr/>
        </p:nvPicPr>
        <p:blipFill>
          <a:blip r:embed="rId1"/>
          <a:stretch>
            <a:fillRect/>
          </a:stretch>
        </p:blipFill>
        <p:spPr>
          <a:xfrm>
            <a:off x="548640" y="1463040"/>
            <a:ext cx="11091672" cy="2409138"/>
          </a:xfrm>
          <a:prstGeom prst="rect">
            <a:avLst/>
          </a:prstGeom>
        </p:spPr>
      </p:pic>
      <p:sp>
        <p:nvSpPr>
          <p:cNvPr id="5" name="Text 2"/>
          <p:cNvSpPr txBox="1"/>
          <p:nvPr/>
        </p:nvSpPr>
        <p:spPr>
          <a:xfrm>
            <a:off x="548640" y="4100778"/>
            <a:ext cx="2103120" cy="1280160"/>
          </a:xfrm>
          <a:prstGeom prst="rect">
            <a:avLst/>
          </a:prstGeom>
          <a:noFill/>
          <a:ln/>
        </p:spPr>
        <p:txBody>
          <a:bodyPr wrap="square" lIns="0" tIns="0" rIns="0" bIns="0" rtlCol="0" anchor="t"/>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De 2,2x en 2015 a 0,3x en 2025. La fusión con Codensa (2022) duplicó el EBITDA; la deuda combinada quedó como en 2015 y desde ahí baja</a:t>
            </a:r>
            <a:endParaRPr lang="en-US" sz="1100" dirty="0"/>
          </a:p>
        </p:txBody>
      </p:sp>
      <p:sp>
        <p:nvSpPr>
          <p:cNvPr id="6" name="Text 3"/>
          <p:cNvSpPr txBox="1"/>
          <p:nvPr/>
        </p:nvSpPr>
        <p:spPr>
          <a:xfrm>
            <a:off x="2788920" y="4100778"/>
            <a:ext cx="2103120" cy="1280160"/>
          </a:xfrm>
          <a:prstGeom prst="rect">
            <a:avLst/>
          </a:prstGeom>
          <a:noFill/>
          <a:ln/>
        </p:spPr>
        <p:txBody>
          <a:bodyPr wrap="square" lIns="0" tIns="0" rIns="0" bIns="0" rtlCol="0" anchor="t"/>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Hidroituango llevó la deuda a 4,5x en 2018 y 2020; ya bajó a 2,6x</a:t>
            </a:r>
            <a:endParaRPr lang="en-US" sz="1100" dirty="0"/>
          </a:p>
        </p:txBody>
      </p:sp>
      <p:sp>
        <p:nvSpPr>
          <p:cNvPr id="7" name="Text 4"/>
          <p:cNvSpPr txBox="1"/>
          <p:nvPr/>
        </p:nvSpPr>
        <p:spPr>
          <a:xfrm>
            <a:off x="5029200" y="4100778"/>
            <a:ext cx="2103120" cy="1280160"/>
          </a:xfrm>
          <a:prstGeom prst="rect">
            <a:avLst/>
          </a:prstGeom>
          <a:noFill/>
          <a:ln/>
        </p:spPr>
        <p:txBody>
          <a:bodyPr wrap="square" lIns="0" tIns="0" rIns="0" bIns="0" rtlCol="0" anchor="t"/>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6,4x en 2015; mejoró a 2,3–4x, pero el EBITDA lleva tres años estancado y la deuda sube</a:t>
            </a:r>
            <a:endParaRPr lang="en-US" sz="1100" dirty="0"/>
          </a:p>
        </p:txBody>
      </p:sp>
      <p:sp>
        <p:nvSpPr>
          <p:cNvPr id="8" name="Text 5"/>
          <p:cNvSpPr txBox="1"/>
          <p:nvPr/>
        </p:nvSpPr>
        <p:spPr>
          <a:xfrm>
            <a:off x="7269480" y="4100778"/>
            <a:ext cx="2103120" cy="1280160"/>
          </a:xfrm>
          <a:prstGeom prst="rect">
            <a:avLst/>
          </a:prstGeom>
          <a:noFill/>
          <a:ln/>
        </p:spPr>
        <p:txBody>
          <a:bodyPr wrap="square" lIns="0" tIns="0" rIns="0" bIns="0" rtlCol="0" anchor="t"/>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El Niño en 2016 (EBITDA −30%); después estable en 2,9–3,7x, subiendo desde 2023</a:t>
            </a:r>
            <a:endParaRPr lang="en-US" sz="1100" dirty="0"/>
          </a:p>
        </p:txBody>
      </p:sp>
      <p:sp>
        <p:nvSpPr>
          <p:cNvPr id="9" name="Text 6"/>
          <p:cNvSpPr txBox="1"/>
          <p:nvPr/>
        </p:nvSpPr>
        <p:spPr>
          <a:xfrm>
            <a:off x="9509760" y="4100778"/>
            <a:ext cx="2103120" cy="1280160"/>
          </a:xfrm>
          <a:prstGeom prst="rect">
            <a:avLst/>
          </a:prstGeom>
          <a:noFill/>
          <a:ln/>
        </p:spPr>
        <p:txBody>
          <a:bodyPr wrap="square" lIns="0" tIns="0" rIns="0" bIns="0" rtlCol="0" anchor="t"/>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Estable en 3–4,5x toda la década; el pico de 2016 es el ingreso extraordinario RBSE, ajustado en el análisis</a:t>
            </a:r>
            <a:endParaRPr lang="en-US" sz="1100" dirty="0"/>
          </a:p>
        </p:txBody>
      </p:sp>
      <p:sp>
        <p:nvSpPr>
          <p:cNvPr id="10" name="Text 7"/>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Camino histórico: cobertura de intereses, 2015–2025</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EBITDA / intereses por emisor. Líneas grises: 6x y 2x, las fronteras de nivel 3 y nivel 6 en la tabla 17 de S&amp;P. Eje propio en cada panel</a:t>
            </a:r>
            <a:endParaRPr lang="en-US" sz="1400" dirty="0"/>
          </a:p>
        </p:txBody>
      </p:sp>
      <p:pic>
        <p:nvPicPr>
          <p:cNvPr id="4" name="Image 0" descr="fig2_cobertura.png">    </p:cNvPr>
          <p:cNvPicPr>
            <a:picLocks noChangeAspect="1"/>
          </p:cNvPicPr>
          <p:nvPr/>
        </p:nvPicPr>
        <p:blipFill>
          <a:blip r:embed="rId1"/>
          <a:stretch>
            <a:fillRect/>
          </a:stretch>
        </p:blipFill>
        <p:spPr>
          <a:xfrm>
            <a:off x="548640" y="1463040"/>
            <a:ext cx="11091672" cy="2111091"/>
          </a:xfrm>
          <a:prstGeom prst="rect">
            <a:avLst/>
          </a:prstGeom>
        </p:spPr>
      </p:pic>
      <p:sp>
        <p:nvSpPr>
          <p:cNvPr id="5" name="Text 2"/>
          <p:cNvSpPr txBox="1"/>
          <p:nvPr/>
        </p:nvSpPr>
        <p:spPr>
          <a:xfrm>
            <a:off x="548640" y="3848451"/>
            <a:ext cx="2103120" cy="1463040"/>
          </a:xfrm>
          <a:prstGeom prst="rect">
            <a:avLst/>
          </a:prstGeom>
          <a:noFill/>
          <a:ln/>
        </p:spPr>
        <p:txBody>
          <a:bodyPr wrap="square" lIns="0" tIns="0" rIns="0" bIns="0" rtlCol="0" anchor="t"/>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Pico de 16,3x en 2021, el año con el menor gasto financiero de la serie. Desde 2022 la fusión trae la deuda de Codensa y baja a 5x</a:t>
            </a:r>
            <a:endParaRPr lang="en-US" sz="1100" dirty="0"/>
          </a:p>
        </p:txBody>
      </p:sp>
      <p:sp>
        <p:nvSpPr>
          <p:cNvPr id="6" name="Text 3"/>
          <p:cNvSpPr txBox="1"/>
          <p:nvPr/>
        </p:nvSpPr>
        <p:spPr>
          <a:xfrm>
            <a:off x="2788920" y="3848451"/>
            <a:ext cx="2103120" cy="1463040"/>
          </a:xfrm>
          <a:prstGeom prst="rect">
            <a:avLst/>
          </a:prstGeom>
          <a:noFill/>
          <a:ln/>
        </p:spPr>
        <p:txBody>
          <a:bodyPr wrap="square" lIns="0" tIns="0" rIns="0" bIns="0" rtlCol="0" anchor="t"/>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De 5,0x en 2021 a 2,9x en 2023: el gasto financiero pasó de 1,4 a 3,3 billones en dos años</a:t>
            </a:r>
            <a:endParaRPr lang="en-US" sz="1100" dirty="0"/>
          </a:p>
        </p:txBody>
      </p:sp>
      <p:sp>
        <p:nvSpPr>
          <p:cNvPr id="7" name="Text 4"/>
          <p:cNvSpPr txBox="1"/>
          <p:nvPr/>
        </p:nvSpPr>
        <p:spPr>
          <a:xfrm>
            <a:off x="5029200" y="3848451"/>
            <a:ext cx="2103120" cy="1463040"/>
          </a:xfrm>
          <a:prstGeom prst="rect">
            <a:avLst/>
          </a:prstGeom>
          <a:noFill/>
          <a:ln/>
        </p:spPr>
        <p:txBody>
          <a:bodyPr wrap="square" lIns="0" tIns="0" rIns="0" bIns="0" rtlCol="0" anchor="t"/>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La más plana de las cinco: entre 2,3x y 4,5x toda la década, sin acercarse nunca al umbral</a:t>
            </a:r>
            <a:endParaRPr lang="en-US" sz="1100" dirty="0"/>
          </a:p>
        </p:txBody>
      </p:sp>
      <p:sp>
        <p:nvSpPr>
          <p:cNvPr id="8" name="Text 5"/>
          <p:cNvSpPr txBox="1"/>
          <p:nvPr/>
        </p:nvSpPr>
        <p:spPr>
          <a:xfrm>
            <a:off x="7269480" y="3848451"/>
            <a:ext cx="2103120" cy="1463040"/>
          </a:xfrm>
          <a:prstGeom prst="rect">
            <a:avLst/>
          </a:prstGeom>
          <a:noFill/>
          <a:ln/>
        </p:spPr>
        <p:txBody>
          <a:bodyPr wrap="square" lIns="0" tIns="0" rIns="0" bIns="0" rtlCol="0" anchor="t"/>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Subió a 4,2x en 2019 y se desplomó a 2,0x en 2023; sigue pegada al umbral</a:t>
            </a:r>
            <a:endParaRPr lang="en-US" sz="1100" dirty="0"/>
          </a:p>
        </p:txBody>
      </p:sp>
      <p:sp>
        <p:nvSpPr>
          <p:cNvPr id="9" name="Text 6"/>
          <p:cNvSpPr txBox="1"/>
          <p:nvPr/>
        </p:nvSpPr>
        <p:spPr>
          <a:xfrm>
            <a:off x="9509760" y="3848451"/>
            <a:ext cx="2103120" cy="1463040"/>
          </a:xfrm>
          <a:prstGeom prst="rect">
            <a:avLst/>
          </a:prstGeom>
          <a:noFill/>
          <a:ln/>
        </p:spPr>
        <p:txBody>
          <a:bodyPr wrap="square" lIns="0" tIns="0" rIns="0" bIns="0" rtlCol="0" anchor="t"/>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Por debajo de 2x en 2018–2019 y otra vez desde 2023: la única que cruza el umbral de forma recurrente</a:t>
            </a:r>
            <a:endParaRPr lang="en-US" sz="1100" dirty="0"/>
          </a:p>
        </p:txBody>
      </p:sp>
      <p:sp>
        <p:nvSpPr>
          <p:cNvPr id="10" name="Text 7"/>
          <p:cNvSpPr txBox="1"/>
          <p:nvPr/>
        </p:nvSpPr>
        <p:spPr>
          <a:xfrm>
            <a:off x="548640" y="5257800"/>
            <a:ext cx="11091672" cy="36576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Este es el ratio suplementario de S&amp;P. El apalancamiento dice cuánto deben; la cobertura, a qué precio. Las dos empresas que cruzan el umbral no son las más endeudadas.</a:t>
            </a:r>
            <a:endParaRPr lang="en-US" sz="1250" dirty="0"/>
          </a:p>
        </p:txBody>
      </p:sp>
      <p:sp>
        <p:nvSpPr>
          <p:cNvPr id="11" name="Text 8"/>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Camino histórico: liquidez, 2015–2025</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Izquierda: prueba de liquidez de S&amp;P (fuentes / usos de caja a 12 meses). Derecha: razón corriente</a:t>
            </a:r>
            <a:endParaRPr lang="en-US" sz="1400" dirty="0"/>
          </a:p>
        </p:txBody>
      </p:sp>
      <p:pic>
        <p:nvPicPr>
          <p:cNvPr id="4" name="Image 0" descr="fig6_liquidez.png">    </p:cNvPr>
          <p:cNvPicPr>
            <a:picLocks noChangeAspect="1"/>
          </p:cNvPicPr>
          <p:nvPr/>
        </p:nvPicPr>
        <p:blipFill>
          <a:blip r:embed="rId1"/>
          <a:stretch>
            <a:fillRect/>
          </a:stretch>
        </p:blipFill>
        <p:spPr>
          <a:xfrm>
            <a:off x="548640" y="1463040"/>
            <a:ext cx="5486400" cy="2458065"/>
          </a:xfrm>
          <a:prstGeom prst="rect">
            <a:avLst/>
          </a:prstGeom>
        </p:spPr>
      </p:pic>
      <p:pic>
        <p:nvPicPr>
          <p:cNvPr id="5" name="Image 1" descr="fig3_razon_corriente.png">    </p:cNvPr>
          <p:cNvPicPr>
            <a:picLocks noChangeAspect="1"/>
          </p:cNvPicPr>
          <p:nvPr/>
        </p:nvPicPr>
        <p:blipFill>
          <a:blip r:embed="rId2"/>
          <a:stretch>
            <a:fillRect/>
          </a:stretch>
        </p:blipFill>
        <p:spPr>
          <a:xfrm>
            <a:off x="6153912" y="1463040"/>
            <a:ext cx="5486400" cy="2458065"/>
          </a:xfrm>
          <a:prstGeom prst="rect">
            <a:avLst/>
          </a:prstGeom>
        </p:spPr>
      </p:pic>
      <p:sp>
        <p:nvSpPr>
          <p:cNvPr id="6" name="Text 2"/>
          <p:cNvSpPr txBox="1"/>
          <p:nvPr/>
        </p:nvSpPr>
        <p:spPr>
          <a:xfrm>
            <a:off x="548640" y="4195425"/>
            <a:ext cx="5486400" cy="1280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Fuentes / usos: </a:t>
            </a:r>
            <a:pPr indent="0" marL="0">
              <a:buNone/>
            </a:pPr>
            <a:r>
              <a:rPr lang="en-US" sz="1200" dirty="0">
                <a:solidFill>
                  <a:srgbClr val="1F2937"/>
                </a:solidFill>
                <a:latin typeface="Calibri" pitchFamily="34" charset="0"/>
                <a:ea typeface="Calibri" pitchFamily="34" charset="-122"/>
                <a:cs typeface="Calibri" pitchFamily="34" charset="-120"/>
              </a:rPr>
              <a:t>ISA cruza 1,2x en 2020 y se mantiene arriba. EPM, ISAGEN y Celsia nunca han cubierto un año con su propia caja: dependen de refinanciar. Enel estuvo arriba hasta que Codensa trajo más capex y dividendos.</a:t>
            </a:r>
            <a:endParaRPr lang="en-US" sz="1200" dirty="0"/>
          </a:p>
        </p:txBody>
      </p:sp>
      <p:sp>
        <p:nvSpPr>
          <p:cNvPr id="7" name="Text 3"/>
          <p:cNvSpPr txBox="1"/>
          <p:nvPr/>
        </p:nvSpPr>
        <p:spPr>
          <a:xfrm>
            <a:off x="6153912" y="4195425"/>
            <a:ext cx="5486400" cy="1280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Razón corriente: </a:t>
            </a:r>
            <a:pPr indent="0" marL="0">
              <a:buNone/>
            </a:pPr>
            <a:r>
              <a:rPr lang="en-US" sz="1200" dirty="0">
                <a:solidFill>
                  <a:srgbClr val="1F2937"/>
                </a:solidFill>
                <a:latin typeface="Calibri" pitchFamily="34" charset="0"/>
                <a:ea typeface="Calibri" pitchFamily="34" charset="-122"/>
                <a:cs typeface="Calibri" pitchFamily="34" charset="-120"/>
              </a:rPr>
              <a:t>cuenta la misma historia con menos datos. ISA por encima de 2 desde 2019; Celsia y Enel por debajo de 1 casi siempre. Correlación con la prueba de S&amp;P: +0,50.</a:t>
            </a:r>
            <a:endParaRPr lang="en-US" sz="1200" dirty="0"/>
          </a:p>
        </p:txBody>
      </p:sp>
      <p:sp>
        <p:nvSpPr>
          <p:cNvPr id="8" name="Text 4"/>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El método: scorecard de calificación de S&amp;P Global Ratings</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Se replica la metodología pública de S&amp;P Global Ratings (Corporate Methodology, 7 ene 2024)</a:t>
            </a:r>
            <a:endParaRPr lang="en-US" sz="1400" dirty="0"/>
          </a:p>
        </p:txBody>
      </p:sp>
      <p:sp>
        <p:nvSpPr>
          <p:cNvPr id="4" name="Shape 2"/>
          <p:cNvSpPr/>
          <p:nvPr/>
        </p:nvSpPr>
        <p:spPr>
          <a:xfrm>
            <a:off x="548640" y="1481328"/>
            <a:ext cx="384048" cy="384048"/>
          </a:xfrm>
          <a:prstGeom prst="ellipse">
            <a:avLst/>
          </a:prstGeom>
          <a:solidFill>
            <a:srgbClr val="1E2761"/>
          </a:solidFill>
          <a:ln w="12700">
            <a:solidFill>
              <a:srgbClr val="1E2761"/>
            </a:solidFill>
            <a:prstDash val="solid"/>
          </a:ln>
        </p:spPr>
      </p:sp>
      <p:sp>
        <p:nvSpPr>
          <p:cNvPr id="5" name="Text 3"/>
          <p:cNvSpPr txBox="1"/>
          <p:nvPr/>
        </p:nvSpPr>
        <p:spPr>
          <a:xfrm>
            <a:off x="54864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463040"/>
            <a:ext cx="4069080" cy="109728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Deuda / EBITDA → nivel 1 a 6</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Tabla 17 (volatilidad estándar: ISAGEN, Celsia) o tabla 18 (media: ISA, EPM, Enel, negocios regulados)</a:t>
            </a:r>
            <a:endParaRPr lang="en-US" sz="1050" dirty="0"/>
          </a:p>
        </p:txBody>
      </p:sp>
      <p:sp>
        <p:nvSpPr>
          <p:cNvPr id="7" name="Shape 5"/>
          <p:cNvSpPr/>
          <p:nvPr/>
        </p:nvSpPr>
        <p:spPr>
          <a:xfrm>
            <a:off x="548640" y="2651760"/>
            <a:ext cx="384048" cy="384048"/>
          </a:xfrm>
          <a:prstGeom prst="ellipse">
            <a:avLst/>
          </a:prstGeom>
          <a:solidFill>
            <a:srgbClr val="1E2761"/>
          </a:solidFill>
          <a:ln w="12700">
            <a:solidFill>
              <a:srgbClr val="1E2761"/>
            </a:solidFill>
            <a:prstDash val="solid"/>
          </a:ln>
        </p:spPr>
      </p:sp>
      <p:sp>
        <p:nvSpPr>
          <p:cNvPr id="8" name="Text 6"/>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97280" y="2633472"/>
            <a:ext cx="4069080" cy="109728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Ajuste por cobertura de intereses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Ratio suplementario: si su nivel dista 2 o más del de la deuda, el perfil financiero se mueve un escalón hacia él. Nunca más de uno</a:t>
            </a:r>
            <a:endParaRPr lang="en-US" sz="1050" dirty="0"/>
          </a:p>
        </p:txBody>
      </p:sp>
      <p:sp>
        <p:nvSpPr>
          <p:cNvPr id="10" name="Shape 8"/>
          <p:cNvSpPr/>
          <p:nvPr/>
        </p:nvSpPr>
        <p:spPr>
          <a:xfrm>
            <a:off x="548640" y="3822192"/>
            <a:ext cx="384048" cy="384048"/>
          </a:xfrm>
          <a:prstGeom prst="ellipse">
            <a:avLst/>
          </a:prstGeom>
          <a:solidFill>
            <a:srgbClr val="1E2761"/>
          </a:solidFill>
          <a:ln w="12700">
            <a:solidFill>
              <a:srgbClr val="1E2761"/>
            </a:solidFill>
            <a:prstDash val="solid"/>
          </a:ln>
        </p:spPr>
      </p:sp>
      <p:sp>
        <p:nvSpPr>
          <p:cNvPr id="11" name="Text 9"/>
          <p:cNvSpPr txBox="1"/>
          <p:nvPr/>
        </p:nvSpPr>
        <p:spPr>
          <a:xfrm>
            <a:off x="548640" y="3822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097280" y="3803904"/>
            <a:ext cx="4069080" cy="109728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Perfil financiero × perfil de negocio → clasificación</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Tabla 3. S&amp;P la llama calificación 'ancla' porque es preliminar. El perfil de negocio se evaluó emisor por emisor (paso 1 de S&amp;P), no se supuso igual para todos</a:t>
            </a:r>
            <a:endParaRPr lang="en-US" sz="1050" dirty="0"/>
          </a:p>
        </p:txBody>
      </p:sp>
      <p:sp>
        <p:nvSpPr>
          <p:cNvPr id="13" name="Shape 11"/>
          <p:cNvSpPr/>
          <p:nvPr/>
        </p:nvSpPr>
        <p:spPr>
          <a:xfrm>
            <a:off x="548640" y="4992624"/>
            <a:ext cx="384048" cy="384048"/>
          </a:xfrm>
          <a:prstGeom prst="ellipse">
            <a:avLst/>
          </a:prstGeom>
          <a:solidFill>
            <a:srgbClr val="1E2761"/>
          </a:solidFill>
          <a:ln w="12700">
            <a:solidFill>
              <a:srgbClr val="1E2761"/>
            </a:solidFill>
            <a:prstDash val="solid"/>
          </a:ln>
        </p:spPr>
      </p:sp>
      <p:sp>
        <p:nvSpPr>
          <p:cNvPr id="14" name="Text 12"/>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097280" y="4974336"/>
            <a:ext cx="4069080" cy="109728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Clasificación → PD a 1 año</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Berk &amp; DeMarzo, tabla 12.2: AA 0,1% · A 0,2% · BBB 0,5% · BB 2,2% · B 5,5%</a:t>
            </a:r>
            <a:endParaRPr lang="en-US" sz="1050" dirty="0"/>
          </a:p>
        </p:txBody>
      </p:sp>
      <p:sp>
        <p:nvSpPr>
          <p:cNvPr id="16" name="Shape 14"/>
          <p:cNvSpPr/>
          <p:nvPr/>
        </p:nvSpPr>
        <p:spPr>
          <a:xfrm>
            <a:off x="5394960" y="1389888"/>
            <a:ext cx="384048" cy="384048"/>
          </a:xfrm>
          <a:prstGeom prst="ellipse">
            <a:avLst/>
          </a:prstGeom>
          <a:solidFill>
            <a:srgbClr val="1E2761"/>
          </a:solidFill>
          <a:ln w="12700">
            <a:solidFill>
              <a:srgbClr val="1E2761"/>
            </a:solidFill>
            <a:prstDash val="solid"/>
          </a:ln>
        </p:spPr>
      </p:sp>
      <p:sp>
        <p:nvSpPr>
          <p:cNvPr id="17" name="Text 15"/>
          <p:cNvSpPr txBox="1"/>
          <p:nvPr/>
        </p:nvSpPr>
        <p:spPr>
          <a:xfrm>
            <a:off x="5394960" y="1389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6"/>
          <p:cNvSpPr txBox="1"/>
          <p:nvPr/>
        </p:nvSpPr>
        <p:spPr>
          <a:xfrm>
            <a:off x="5852160" y="1408176"/>
            <a:ext cx="2834640" cy="34747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Umbrales de deuda / EBITDA</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394960" y="1810512"/>
          <a:ext cx="3017520" cy="914400"/>
        </p:xfrm>
        <a:graphic>
          <a:graphicData uri="http://schemas.openxmlformats.org/drawingml/2006/table">
            <a:tbl>
              <a:tblPr/>
              <a:tblGrid>
                <a:gridCol w="1188720"/>
                <a:gridCol w="868680"/>
                <a:gridCol w="960120"/>
              </a:tblGrid>
              <a:tr h="26517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Perfil financiero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Tabla 17</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Tabla 18</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 Mínimo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&lt; 1,5x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&lt; 1,75x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 Modesto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1,5–2x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1,75–2,5x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 Intermedio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2,5–3,5x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 Significativo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3–4x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3,5–4,5x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 Agresivo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4,5–5,5x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 Muy apalancado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&gt; 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&gt; 5,5x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20" name="Shape 17"/>
          <p:cNvSpPr/>
          <p:nvPr/>
        </p:nvSpPr>
        <p:spPr>
          <a:xfrm>
            <a:off x="8686800" y="1389888"/>
            <a:ext cx="384048" cy="384048"/>
          </a:xfrm>
          <a:prstGeom prst="ellipse">
            <a:avLst/>
          </a:prstGeom>
          <a:solidFill>
            <a:srgbClr val="1E2761"/>
          </a:solidFill>
          <a:ln w="12700">
            <a:solidFill>
              <a:srgbClr val="1E2761"/>
            </a:solidFill>
            <a:prstDash val="solid"/>
          </a:ln>
        </p:spPr>
      </p:sp>
      <p:sp>
        <p:nvSpPr>
          <p:cNvPr id="21" name="Text 18"/>
          <p:cNvSpPr txBox="1"/>
          <p:nvPr/>
        </p:nvSpPr>
        <p:spPr>
          <a:xfrm>
            <a:off x="8686800" y="1389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Text 19"/>
          <p:cNvSpPr txBox="1"/>
          <p:nvPr/>
        </p:nvSpPr>
        <p:spPr>
          <a:xfrm>
            <a:off x="9144000" y="1408176"/>
            <a:ext cx="2834640" cy="34747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Umbrales de cobertura</a:t>
            </a:r>
            <a:endParaRPr lang="en-US" sz="11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8686800" y="1810512"/>
          <a:ext cx="2953512" cy="914400"/>
        </p:xfrm>
        <a:graphic>
          <a:graphicData uri="http://schemas.openxmlformats.org/drawingml/2006/table">
            <a:tbl>
              <a:tblPr/>
              <a:tblGrid>
                <a:gridCol w="1444752"/>
                <a:gridCol w="1508760"/>
              </a:tblGrid>
              <a:tr h="26517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Nivel</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EBITDA / intereses</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 Mínimo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 15x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 Modesto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10–15x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 Intermedio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6–10x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 Significativo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3–6x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 Agresivo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 Muy apalancado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&lt; 2x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24" name="Shape 20"/>
          <p:cNvSpPr/>
          <p:nvPr/>
        </p:nvSpPr>
        <p:spPr>
          <a:xfrm>
            <a:off x="5394960" y="3794760"/>
            <a:ext cx="384048" cy="384048"/>
          </a:xfrm>
          <a:prstGeom prst="ellipse">
            <a:avLst/>
          </a:prstGeom>
          <a:solidFill>
            <a:srgbClr val="1E2761"/>
          </a:solidFill>
          <a:ln w="12700">
            <a:solidFill>
              <a:srgbClr val="1E2761"/>
            </a:solidFill>
            <a:prstDash val="solid"/>
          </a:ln>
        </p:spPr>
      </p:sp>
      <p:sp>
        <p:nvSpPr>
          <p:cNvPr id="25" name="Text 21"/>
          <p:cNvSpPr txBox="1"/>
          <p:nvPr/>
        </p:nvSpPr>
        <p:spPr>
          <a:xfrm>
            <a:off x="5394960" y="3794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2"/>
          <p:cNvSpPr txBox="1"/>
          <p:nvPr/>
        </p:nvSpPr>
        <p:spPr>
          <a:xfrm>
            <a:off x="5852160" y="3813048"/>
            <a:ext cx="2834640" cy="34747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Tabla 3: perfil de negocio × perfil financiero</a:t>
            </a:r>
            <a:endParaRPr lang="en-US" sz="115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5394960" y="4187952"/>
          <a:ext cx="6245352" cy="914400"/>
        </p:xfrm>
        <a:graphic>
          <a:graphicData uri="http://schemas.openxmlformats.org/drawingml/2006/table">
            <a:tbl>
              <a:tblPr/>
              <a:tblGrid>
                <a:gridCol w="1234440"/>
                <a:gridCol w="834847"/>
                <a:gridCol w="834847"/>
                <a:gridCol w="834847"/>
                <a:gridCol w="834847"/>
                <a:gridCol w="834847"/>
                <a:gridCol w="834847"/>
              </a:tblGrid>
              <a:tr h="246888">
                <a:tc>
                  <a:txBody>
                    <a:bodyPr/>
                    <a:lstStyle/>
                    <a:p>
                      <a:pPr indent="0" marL="0">
                        <a:buNone/>
                      </a:pP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gridSpan="6">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Perfil financiero</a:t>
                      </a:r>
                      <a:endParaRPr lang="en-US" sz="95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hMerge="1">
                  <a:tcPr/>
                </a:tc>
                <a:tc hMerge="1">
                  <a:tcPr/>
                </a:tc>
                <a:tc hMerge="1">
                  <a:tcPr/>
                </a:tc>
                <a:tc hMerge="1">
                  <a:tcPr/>
                </a:tc>
                <a:tc hMerge="1">
                  <a:tcPr/>
                </a:tc>
              </a:tr>
              <a:tr h="24688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Perfil de negocio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1 (mínimo)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2 (modesto)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3 (intermedio)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4 (significativo)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5 (agresivo)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6 (muy apalancado)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Excelente</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Fuerte</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Satisfactorio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Razonable</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Débil</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Vulnerable</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28" name="Text 2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Resultado 2025: de los dos ratios a la clasificación</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Los dos ratios dan el perfil financiero; cruzarlo con el perfil de negocio en la tabla 3 de S&amp;P da la clasificación y la PD</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914400"/>
                <a:gridCol w="1481328"/>
                <a:gridCol w="1371600"/>
                <a:gridCol w="868680"/>
                <a:gridCol w="1691640"/>
                <a:gridCol w="1572768"/>
                <a:gridCol w="1572768"/>
                <a:gridCol w="1618488"/>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Emisor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Deuda / EBITDA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Cobertura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Distancia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Perfil financiero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Perfil de negocio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Clasificación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PD 1 año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438912">
                <a:tc>
                  <a:txBody>
                    <a:bodyPr/>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0,34x  (nivel 1)</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5,1x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 → 2 modesto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fuerte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 / 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009E73"/>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438912">
                <a:tc>
                  <a:txBody>
                    <a:bodyPr/>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2,61x  (nivel 3)</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3,5x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 intermedio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satisfactorio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bbb / bbb-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438912">
                <a:tc>
                  <a:txBody>
                    <a:bodyPr/>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4,27x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3,2x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 significativo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satisfactorio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bbb- / 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438912">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3,11x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2,4x  (nivel 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 significativo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débil</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438912">
                <a:tc>
                  <a:txBody>
                    <a:bodyPr/>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3,65x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1,7x  (nivel 6)</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 → 5 agresivo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razonable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5" name="Shape 2"/>
          <p:cNvSpPr/>
          <p:nvPr/>
        </p:nvSpPr>
        <p:spPr>
          <a:xfrm>
            <a:off x="548640" y="4709160"/>
            <a:ext cx="3514344" cy="1645920"/>
          </a:xfrm>
          <a:prstGeom prst="roundRect">
            <a:avLst>
              <a:gd name="adj" fmla="val 4444"/>
            </a:avLst>
          </a:prstGeom>
          <a:solidFill>
            <a:srgbClr val="F3F5FA"/>
          </a:solidFill>
          <a:ln w="12700">
            <a:solidFill>
              <a:srgbClr val="F3F5FA"/>
            </a:solidFill>
            <a:prstDash val="solid"/>
          </a:ln>
        </p:spPr>
      </p:sp>
      <p:sp>
        <p:nvSpPr>
          <p:cNvPr id="6" name="Text 3"/>
          <p:cNvSpPr txBox="1"/>
          <p:nvPr/>
        </p:nvSpPr>
        <p:spPr>
          <a:xfrm>
            <a:off x="777240" y="4818888"/>
            <a:ext cx="3057144" cy="4114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ISA y CELSIA</a:t>
            </a:r>
            <a:endParaRPr lang="en-US" sz="1900" dirty="0"/>
          </a:p>
        </p:txBody>
      </p:sp>
      <p:sp>
        <p:nvSpPr>
          <p:cNvPr id="7" name="Text 4"/>
          <p:cNvSpPr txBox="1"/>
          <p:nvPr/>
        </p:nvSpPr>
        <p:spPr>
          <a:xfrm>
            <a:off x="777240" y="5239512"/>
            <a:ext cx="3057144" cy="4572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mismo perfil financiero, dos escalones de diferencia</a:t>
            </a:r>
            <a:endParaRPr lang="en-US" sz="1200" dirty="0"/>
          </a:p>
        </p:txBody>
      </p:sp>
      <p:sp>
        <p:nvSpPr>
          <p:cNvPr id="8" name="Text 5"/>
          <p:cNvSpPr txBox="1"/>
          <p:nvPr/>
        </p:nvSpPr>
        <p:spPr>
          <a:xfrm>
            <a:off x="777240" y="5669280"/>
            <a:ext cx="3057144" cy="6858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Los dos quedan en nivel 4. Lo que los separa es el negocio: ISA es transmisión regulada con ingresos por contrato; Celsia es generación expuesta al clima, con la volatilidad de margen más alta de las cinco.</a:t>
            </a:r>
            <a:endParaRPr lang="en-US" sz="1050" dirty="0"/>
          </a:p>
        </p:txBody>
      </p:sp>
      <p:sp>
        <p:nvSpPr>
          <p:cNvPr id="9" name="Shape 6"/>
          <p:cNvSpPr/>
          <p:nvPr/>
        </p:nvSpPr>
        <p:spPr>
          <a:xfrm>
            <a:off x="4337304" y="4709160"/>
            <a:ext cx="3514344" cy="1645920"/>
          </a:xfrm>
          <a:prstGeom prst="roundRect">
            <a:avLst>
              <a:gd name="adj" fmla="val 4444"/>
            </a:avLst>
          </a:prstGeom>
          <a:solidFill>
            <a:srgbClr val="F3F5FA"/>
          </a:solidFill>
          <a:ln w="12700">
            <a:solidFill>
              <a:srgbClr val="F3F5FA"/>
            </a:solidFill>
            <a:prstDash val="solid"/>
          </a:ln>
        </p:spPr>
      </p:sp>
      <p:sp>
        <p:nvSpPr>
          <p:cNvPr id="10" name="Text 7"/>
          <p:cNvSpPr txBox="1"/>
          <p:nvPr/>
        </p:nvSpPr>
        <p:spPr>
          <a:xfrm>
            <a:off x="4565904" y="4818888"/>
            <a:ext cx="3057144" cy="411480"/>
          </a:xfrm>
          <a:prstGeom prst="rect">
            <a:avLst/>
          </a:prstGeom>
          <a:noFill/>
          <a:ln/>
        </p:spPr>
        <p:txBody>
          <a:bodyPr wrap="square" lIns="0" tIns="0" rIns="0" bIns="0" rtlCol="0" anchor="ctr"/>
          <a:lstStyle/>
          <a:p>
            <a:pPr indent="0" marL="0">
              <a:buNone/>
            </a:pPr>
            <a:r>
              <a:rPr lang="en-US" sz="1900" b="1" dirty="0">
                <a:solidFill>
                  <a:srgbClr val="E69F00"/>
                </a:solidFill>
                <a:latin typeface="Cambria" pitchFamily="34" charset="0"/>
                <a:ea typeface="Cambria" pitchFamily="34" charset="-122"/>
                <a:cs typeface="Cambria" pitchFamily="34" charset="-120"/>
              </a:rPr>
              <a:t>La cobertura mueve dos</a:t>
            </a:r>
            <a:endParaRPr lang="en-US" sz="1900" dirty="0"/>
          </a:p>
        </p:txBody>
      </p:sp>
      <p:sp>
        <p:nvSpPr>
          <p:cNvPr id="11" name="Text 8"/>
          <p:cNvSpPr txBox="1"/>
          <p:nvPr/>
        </p:nvSpPr>
        <p:spPr>
          <a:xfrm>
            <a:off x="4565904" y="5239512"/>
            <a:ext cx="3057144" cy="4572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Enel y ISAGEN, un escalón cada uno</a:t>
            </a:r>
            <a:endParaRPr lang="en-US" sz="1200" dirty="0"/>
          </a:p>
        </p:txBody>
      </p:sp>
      <p:sp>
        <p:nvSpPr>
          <p:cNvPr id="12" name="Text 9"/>
          <p:cNvSpPr txBox="1"/>
          <p:nvPr/>
        </p:nvSpPr>
        <p:spPr>
          <a:xfrm>
            <a:off x="4565904" y="5669280"/>
            <a:ext cx="3057144" cy="6858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Son los únicos con distancia 2 o más entre sus dos niveles. Enel baja de aa/aa- a a+/a; ISAGEN de bb a bb-. Los otros tres quedan donde el apalancamiento los puso.</a:t>
            </a:r>
            <a:endParaRPr lang="en-US" sz="1050" dirty="0"/>
          </a:p>
        </p:txBody>
      </p:sp>
      <p:sp>
        <p:nvSpPr>
          <p:cNvPr id="13" name="Shape 10"/>
          <p:cNvSpPr/>
          <p:nvPr/>
        </p:nvSpPr>
        <p:spPr>
          <a:xfrm>
            <a:off x="8125968" y="4709160"/>
            <a:ext cx="3514344" cy="1645920"/>
          </a:xfrm>
          <a:prstGeom prst="roundRect">
            <a:avLst>
              <a:gd name="adj" fmla="val 4444"/>
            </a:avLst>
          </a:prstGeom>
          <a:solidFill>
            <a:srgbClr val="F3F5FA"/>
          </a:solidFill>
          <a:ln w="12700">
            <a:solidFill>
              <a:srgbClr val="F3F5FA"/>
            </a:solidFill>
            <a:prstDash val="solid"/>
          </a:ln>
        </p:spPr>
      </p:sp>
      <p:sp>
        <p:nvSpPr>
          <p:cNvPr id="14" name="Text 11"/>
          <p:cNvSpPr txBox="1"/>
          <p:nvPr/>
        </p:nvSpPr>
        <p:spPr>
          <a:xfrm>
            <a:off x="8354568" y="4818888"/>
            <a:ext cx="3057144" cy="41148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Lo que la PD no distingue</a:t>
            </a:r>
            <a:endParaRPr lang="en-US" sz="1900" dirty="0"/>
          </a:p>
        </p:txBody>
      </p:sp>
      <p:sp>
        <p:nvSpPr>
          <p:cNvPr id="15" name="Text 12"/>
          <p:cNvSpPr txBox="1"/>
          <p:nvPr/>
        </p:nvSpPr>
        <p:spPr>
          <a:xfrm>
            <a:off x="8354568" y="5239512"/>
            <a:ext cx="3057144" cy="4572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EPM e ISA comparten 0,5%</a:t>
            </a:r>
            <a:endParaRPr lang="en-US" sz="1200" dirty="0"/>
          </a:p>
        </p:txBody>
      </p:sp>
      <p:sp>
        <p:nvSpPr>
          <p:cNvPr id="16" name="Text 13"/>
          <p:cNvSpPr txBox="1"/>
          <p:nvPr/>
        </p:nvSpPr>
        <p:spPr>
          <a:xfrm>
            <a:off x="8354568" y="5669280"/>
            <a:ext cx="3057144" cy="6858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Sus clasificaciones son distintas —bbb/bbb- y bbb-/bb+— pero la tabla de Berk &amp; DeMarzo tiene cinco escalones y las dos caen en el mismo. La clasificación separa más fino que la PD.</a:t>
            </a:r>
            <a:endParaRPr lang="en-US" sz="1050" dirty="0"/>
          </a:p>
        </p:txBody>
      </p:sp>
      <p:sp>
        <p:nvSpPr>
          <p:cNvPr id="17" name="Text 14"/>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Contraste externo: el modelo Z de Altman</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Mismo balance, otra pregunta: S&amp;P mide flujo, Altman mide estructura patrimonial. Coeficientes publicados, no estimados</a:t>
            </a:r>
            <a:endParaRPr lang="en-US" sz="1400" dirty="0"/>
          </a:p>
        </p:txBody>
      </p:sp>
      <p:sp>
        <p:nvSpPr>
          <p:cNvPr id="4" name="Shape 2"/>
          <p:cNvSpPr/>
          <p:nvPr/>
        </p:nvSpPr>
        <p:spPr>
          <a:xfrm>
            <a:off x="548640" y="1335024"/>
            <a:ext cx="11091672" cy="713232"/>
          </a:xfrm>
          <a:prstGeom prst="roundRect">
            <a:avLst>
              <a:gd name="adj" fmla="val 10256"/>
            </a:avLst>
          </a:prstGeom>
          <a:solidFill>
            <a:srgbClr val="1E2761"/>
          </a:solidFill>
          <a:ln w="12700">
            <a:solidFill>
              <a:srgbClr val="1E2761"/>
            </a:solidFill>
            <a:prstDash val="solid"/>
          </a:ln>
        </p:spPr>
      </p:sp>
      <p:sp>
        <p:nvSpPr>
          <p:cNvPr id="5" name="Text 3"/>
          <p:cNvSpPr txBox="1"/>
          <p:nvPr/>
        </p:nvSpPr>
        <p:spPr>
          <a:xfrm>
            <a:off x="548640" y="1371600"/>
            <a:ext cx="11091672"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Z''  =  6,56 · X1  +  3,26 · X2  +  6,72 · X3  +  1,05 · X4</a:t>
            </a:r>
            <a:endParaRPr lang="en-US" sz="2000" dirty="0"/>
          </a:p>
        </p:txBody>
      </p:sp>
      <p:sp>
        <p:nvSpPr>
          <p:cNvPr id="6" name="Text 4"/>
          <p:cNvSpPr txBox="1"/>
          <p:nvPr/>
        </p:nvSpPr>
        <p:spPr>
          <a:xfrm>
            <a:off x="548640" y="1737360"/>
            <a:ext cx="11091672" cy="27432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Z''-EM  =  Z''  +  3,25      (escala de mercados emergentes)</a:t>
            </a:r>
            <a:endParaRPr lang="en-US" sz="1200" dirty="0"/>
          </a:p>
        </p:txBody>
      </p:sp>
      <p:sp>
        <p:nvSpPr>
          <p:cNvPr id="7" name="Text 5"/>
          <p:cNvSpPr txBox="1"/>
          <p:nvPr/>
        </p:nvSpPr>
        <p:spPr>
          <a:xfrm>
            <a:off x="548640" y="2121408"/>
            <a:ext cx="11091672" cy="4572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X1 capital de trabajo / activos tangibles  ·  X2 utilidades retenidas / activos tangibles  ·  X3 EBIT / activos tangibles  ·  X4 patrimonio en libros / pasivo total.  Activos tangibles = activo total − plusvalía − intangibles.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914400"/>
        </p:xfrm>
        <a:graphic>
          <a:graphicData uri="http://schemas.openxmlformats.org/drawingml/2006/table">
            <a:tbl>
              <a:tblPr/>
              <a:tblGrid>
                <a:gridCol w="914400"/>
                <a:gridCol w="1783080"/>
                <a:gridCol w="914400"/>
                <a:gridCol w="1234440"/>
                <a:gridCol w="1097280"/>
                <a:gridCol w="1737360"/>
                <a:gridCol w="3410712"/>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Emisor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Z''-EM</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Equivalente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PD Altman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PD S&amp;P (este trabajo)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Diferencia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365760">
                <a:tc>
                  <a:txBody>
                    <a:bodyPr/>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2,94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6,19</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Altman lo ve mejor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65760">
                <a:tc>
                  <a:txBody>
                    <a:bodyPr/>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5,75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S&amp;P lo ve mejor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65760">
                <a:tc>
                  <a:txBody>
                    <a:bodyPr/>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2,18</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5,43</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Cuatro veces más alta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65760">
                <a:tc>
                  <a:txBody>
                    <a:bodyPr/>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1,54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4,79</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Ambos lo ponen abajo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65760">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0,78</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Ambos lo ponen abajo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9" name="Shape 6"/>
          <p:cNvSpPr/>
          <p:nvPr/>
        </p:nvSpPr>
        <p:spPr>
          <a:xfrm>
            <a:off x="548640" y="4892040"/>
            <a:ext cx="3514344" cy="1463040"/>
          </a:xfrm>
          <a:prstGeom prst="roundRect">
            <a:avLst>
              <a:gd name="adj" fmla="val 5000"/>
            </a:avLst>
          </a:prstGeom>
          <a:solidFill>
            <a:srgbClr val="F3F5FA"/>
          </a:solidFill>
          <a:ln w="12700">
            <a:solidFill>
              <a:srgbClr val="F3F5FA"/>
            </a:solidFill>
            <a:prstDash val="solid"/>
          </a:ln>
        </p:spPr>
      </p:sp>
      <p:sp>
        <p:nvSpPr>
          <p:cNvPr id="10" name="Text 7"/>
          <p:cNvSpPr txBox="1"/>
          <p:nvPr/>
        </p:nvSpPr>
        <p:spPr>
          <a:xfrm>
            <a:off x="777240" y="5020056"/>
            <a:ext cx="305714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Coinciden en los extremos</a:t>
            </a:r>
            <a:endParaRPr lang="en-US" sz="1400" dirty="0"/>
          </a:p>
        </p:txBody>
      </p:sp>
      <p:sp>
        <p:nvSpPr>
          <p:cNvPr id="11" name="Text 8"/>
          <p:cNvSpPr txBox="1"/>
          <p:nvPr/>
        </p:nvSpPr>
        <p:spPr>
          <a:xfrm>
            <a:off x="777240" y="5367528"/>
            <a:ext cx="3057144" cy="9144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EPM y Enel arriba; ISAGEN y Celsia abajo. Dos modelos con insumos distintos llegan al mismo diagnóstico en cuatro de cinco.</a:t>
            </a:r>
            <a:endParaRPr lang="en-US" sz="1050" dirty="0"/>
          </a:p>
        </p:txBody>
      </p:sp>
      <p:sp>
        <p:nvSpPr>
          <p:cNvPr id="12" name="Shape 9"/>
          <p:cNvSpPr/>
          <p:nvPr/>
        </p:nvSpPr>
        <p:spPr>
          <a:xfrm>
            <a:off x="4337304" y="4892040"/>
            <a:ext cx="3514344" cy="1463040"/>
          </a:xfrm>
          <a:prstGeom prst="roundRect">
            <a:avLst>
              <a:gd name="adj" fmla="val 5000"/>
            </a:avLst>
          </a:prstGeom>
          <a:solidFill>
            <a:srgbClr val="F3F5FA"/>
          </a:solidFill>
          <a:ln w="12700">
            <a:solidFill>
              <a:srgbClr val="F3F5FA"/>
            </a:solidFill>
            <a:prstDash val="solid"/>
          </a:ln>
        </p:spPr>
      </p:sp>
      <p:sp>
        <p:nvSpPr>
          <p:cNvPr id="13" name="Text 10"/>
          <p:cNvSpPr txBox="1"/>
          <p:nvPr/>
        </p:nvSpPr>
        <p:spPr>
          <a:xfrm>
            <a:off x="4565904" y="5020056"/>
            <a:ext cx="3057144" cy="320040"/>
          </a:xfrm>
          <a:prstGeom prst="rect">
            <a:avLst/>
          </a:prstGeom>
          <a:noFill/>
          <a:ln/>
        </p:spPr>
        <p:txBody>
          <a:bodyPr wrap="square" lIns="0" tIns="0" rIns="0" bIns="0" rtlCol="0" anchor="ctr"/>
          <a:lstStyle/>
          <a:p>
            <a:pPr indent="0" marL="0">
              <a:buNone/>
            </a:pPr>
            <a:r>
              <a:rPr lang="en-US" sz="1400" b="1" dirty="0">
                <a:solidFill>
                  <a:srgbClr val="0072B2"/>
                </a:solidFill>
                <a:latin typeface="Calibri" pitchFamily="34" charset="0"/>
                <a:ea typeface="Calibri" pitchFamily="34" charset="-122"/>
                <a:cs typeface="Calibri" pitchFamily="34" charset="-120"/>
              </a:rPr>
              <a:t>Discrepan en ISA</a:t>
            </a:r>
            <a:endParaRPr lang="en-US" sz="1400" dirty="0"/>
          </a:p>
        </p:txBody>
      </p:sp>
      <p:sp>
        <p:nvSpPr>
          <p:cNvPr id="14" name="Text 11"/>
          <p:cNvSpPr txBox="1"/>
          <p:nvPr/>
        </p:nvSpPr>
        <p:spPr>
          <a:xfrm>
            <a:off x="4565904" y="5367528"/>
            <a:ext cx="3057144" cy="9144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Altman la castiga porque sus utilidades retenidas son chicas frente al activo: reparte casi todo lo que gana. Es un dato real que un modelo de flujo no ve.</a:t>
            </a:r>
            <a:endParaRPr lang="en-US" sz="1050" dirty="0"/>
          </a:p>
        </p:txBody>
      </p:sp>
      <p:sp>
        <p:nvSpPr>
          <p:cNvPr id="15" name="Shape 12"/>
          <p:cNvSpPr/>
          <p:nvPr/>
        </p:nvSpPr>
        <p:spPr>
          <a:xfrm>
            <a:off x="8125968" y="4892040"/>
            <a:ext cx="3514344" cy="1463040"/>
          </a:xfrm>
          <a:prstGeom prst="roundRect">
            <a:avLst>
              <a:gd name="adj" fmla="val 5000"/>
            </a:avLst>
          </a:prstGeom>
          <a:solidFill>
            <a:srgbClr val="F3F5FA"/>
          </a:solidFill>
          <a:ln w="12700">
            <a:solidFill>
              <a:srgbClr val="F3F5FA"/>
            </a:solidFill>
            <a:prstDash val="solid"/>
          </a:ln>
        </p:spPr>
      </p:sp>
      <p:sp>
        <p:nvSpPr>
          <p:cNvPr id="16" name="Text 13"/>
          <p:cNvSpPr txBox="1"/>
          <p:nvPr/>
        </p:nvSpPr>
        <p:spPr>
          <a:xfrm>
            <a:off x="8354568" y="5020056"/>
            <a:ext cx="3057144" cy="320040"/>
          </a:xfrm>
          <a:prstGeom prst="rect">
            <a:avLst/>
          </a:prstGeom>
          <a:noFill/>
          <a:ln/>
        </p:spPr>
        <p:txBody>
          <a:bodyPr wrap="square" lIns="0" tIns="0" rIns="0" bIns="0" rtlCol="0" anchor="ctr"/>
          <a:lstStyle/>
          <a:p>
            <a:pPr indent="0" marL="0">
              <a:buNone/>
            </a:pPr>
            <a:r>
              <a:rPr lang="en-US" sz="1400" b="1" dirty="0">
                <a:solidFill>
                  <a:srgbClr val="D55E00"/>
                </a:solidFill>
                <a:latin typeface="Calibri" pitchFamily="34" charset="0"/>
                <a:ea typeface="Calibri" pitchFamily="34" charset="-122"/>
                <a:cs typeface="Calibri" pitchFamily="34" charset="-120"/>
              </a:rPr>
              <a:t>Celsia, la más castigada</a:t>
            </a:r>
            <a:endParaRPr lang="en-US" sz="1400" dirty="0"/>
          </a:p>
        </p:txBody>
      </p:sp>
      <p:sp>
        <p:nvSpPr>
          <p:cNvPr id="17" name="Text 14"/>
          <p:cNvSpPr txBox="1"/>
          <p:nvPr/>
        </p:nvSpPr>
        <p:spPr>
          <a:xfrm>
            <a:off x="8354568" y="5367528"/>
            <a:ext cx="3057144" cy="9144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Es la única de las cinco con utilidades retenidas negativas, y su Z'' de 0,78 no llega a un tercio del de EPM. Los dos modelos la dejan de última por caminos distintos: S&amp;P por la volatilidad de su margen, Altman por su balance.</a:t>
            </a:r>
            <a:endParaRPr lang="en-US" sz="1050" dirty="0"/>
          </a:p>
        </p:txBody>
      </p:sp>
      <p:sp>
        <p:nvSpPr>
          <p:cNvPr id="18" name="Text 15"/>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Camino cuantitativo: prueba de estrés sobre 2025</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Golpes tomados de la propia serie: EBITDA −20% (en El Niño 2016 ISAGEN cayó 30% y Celsia 28%) · intereses +30% (tasas 2022-23) · ambos. Alerta: cobertura &lt; 2x</a:t>
            </a:r>
            <a:endParaRPr lang="en-US" sz="1400" dirty="0"/>
          </a:p>
        </p:txBody>
      </p:sp>
      <p:pic>
        <p:nvPicPr>
          <p:cNvPr id="4" name="Image 0" descr="fig7_estres.png">    </p:cNvPr>
          <p:cNvPicPr>
            <a:picLocks noChangeAspect="1"/>
          </p:cNvPicPr>
          <p:nvPr/>
        </p:nvPicPr>
        <p:blipFill>
          <a:blip r:embed="rId1"/>
          <a:stretch>
            <a:fillRect/>
          </a:stretch>
        </p:blipFill>
        <p:spPr>
          <a:xfrm>
            <a:off x="548640" y="1508760"/>
            <a:ext cx="5852160" cy="2888529"/>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720840" y="1508760"/>
          <a:ext cx="4919472" cy="914400"/>
        </p:xfrm>
        <a:graphic>
          <a:graphicData uri="http://schemas.openxmlformats.org/drawingml/2006/table">
            <a:tbl>
              <a:tblPr/>
              <a:tblGrid>
                <a:gridCol w="868680"/>
                <a:gridCol w="594360"/>
                <a:gridCol w="914400"/>
                <a:gridCol w="777240"/>
                <a:gridCol w="640080"/>
                <a:gridCol w="1490472"/>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Emisor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EBITDA −20%</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Int. +30%</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Ambos</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Lectura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384048">
                <a:tc>
                  <a:txBody>
                    <a:bodyPr/>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5,1x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4,1x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4,0x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3,2x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Aguanta de sobra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84048">
                <a:tc>
                  <a:txBody>
                    <a:bodyPr/>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3,5x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2,8x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2,7x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2,2x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Aguanta, con poco margen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84048">
                <a:tc>
                  <a:txBody>
                    <a:bodyPr/>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3,2x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2,5x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2,4x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1,9x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Cruza 2x solo con ambos</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84048">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2,4x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1,9x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1,8x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1,5x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Cruza con cualquiera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84048">
                <a:tc>
                  <a:txBody>
                    <a:bodyPr/>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1,7x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1,4x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1,3x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1,1x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Bajo 2x sin golpe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6" name="Text 2"/>
          <p:cNvSpPr txBox="1"/>
          <p:nvPr/>
        </p:nvSpPr>
        <p:spPr>
          <a:xfrm>
            <a:off x="6720840" y="4480560"/>
            <a:ext cx="4919472" cy="11887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Cobertura de intereses (EBITDA / intereses) por escenario. Un analista no aplica el mismo golpe a todos: ISA es transmisión regulada, sus ingresos no dependen de la lluvia; su riesgo son las tasas y el dólar.</a:t>
            </a:r>
            <a:endParaRPr lang="en-US" sz="1150" dirty="0"/>
          </a:p>
        </p:txBody>
      </p:sp>
      <p:sp>
        <p:nvSpPr>
          <p:cNvPr id="7" name="Text 3"/>
          <p:cNvSpPr txBox="1"/>
          <p:nvPr/>
        </p:nvSpPr>
        <p:spPr>
          <a:xfrm>
            <a:off x="548640" y="617220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Las correlaciones de Spearman entre los indicadores, sobre las mismas 55 observaciones, están en el notebook 02, sección 6.</a:t>
            </a:r>
            <a:endParaRPr lang="en-US" sz="1000" dirty="0"/>
          </a:p>
        </p:txBody>
      </p:sp>
      <p:sp>
        <p:nvSpPr>
          <p:cNvPr id="8" name="Text 4"/>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
        <p:nvSpPr>
          <p:cNvPr id="3" name="Text 1"/>
          <p:cNvSpPr txBox="1"/>
          <p:nvPr/>
        </p:nvSpPr>
        <p:spPr>
          <a:xfrm>
            <a:off x="548640" y="1024128"/>
            <a:ext cx="11091672" cy="310896"/>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De menor a mayor riesgo — scorecard S&amp;P:   </a:t>
            </a:r>
            <a:pPr indent="0" marL="0">
              <a:buNone/>
            </a:pPr>
            <a:r>
              <a:rPr lang="en-US" sz="1350" b="1" dirty="0">
                <a:solidFill>
                  <a:srgbClr val="7B3294"/>
                </a:solidFill>
                <a:latin typeface="Calibri" pitchFamily="34" charset="0"/>
                <a:ea typeface="Calibri" pitchFamily="34" charset="-122"/>
                <a:cs typeface="Calibri" pitchFamily="34" charset="-120"/>
              </a:rPr>
              <a:t>ENEL</a:t>
            </a:r>
            <a:pPr indent="0" marL="0">
              <a:buNone/>
            </a:pPr>
            <a:r>
              <a:rPr lang="en-US" sz="1350" dirty="0">
                <a:solidFill>
                  <a:srgbClr val="FFFFFF"/>
                </a:solidFill>
                <a:latin typeface="Calibri" pitchFamily="34" charset="0"/>
                <a:ea typeface="Calibri" pitchFamily="34" charset="-122"/>
                <a:cs typeface="Calibri" pitchFamily="34" charset="-120"/>
              </a:rPr>
              <a:t> 0,2%</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009E73"/>
                </a:solidFill>
                <a:latin typeface="Calibri" pitchFamily="34" charset="0"/>
                <a:ea typeface="Calibri" pitchFamily="34" charset="-122"/>
                <a:cs typeface="Calibri" pitchFamily="34" charset="-120"/>
              </a:rPr>
              <a:t>EPM</a:t>
            </a:r>
            <a:pPr indent="0" marL="0">
              <a:buNone/>
            </a:pPr>
            <a:r>
              <a:rPr lang="en-US" sz="1350" dirty="0">
                <a:solidFill>
                  <a:srgbClr val="FFFFFF"/>
                </a:solidFill>
                <a:latin typeface="Calibri" pitchFamily="34" charset="0"/>
                <a:ea typeface="Calibri" pitchFamily="34" charset="-122"/>
                <a:cs typeface="Calibri" pitchFamily="34" charset="-120"/>
              </a:rPr>
              <a:t> 0,5%</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0072B2"/>
                </a:solidFill>
                <a:latin typeface="Calibri" pitchFamily="34" charset="0"/>
                <a:ea typeface="Calibri" pitchFamily="34" charset="-122"/>
                <a:cs typeface="Calibri" pitchFamily="34" charset="-120"/>
              </a:rPr>
              <a:t>ISA</a:t>
            </a:r>
            <a:pPr indent="0" marL="0">
              <a:buNone/>
            </a:pPr>
            <a:r>
              <a:rPr lang="en-US" sz="1350" dirty="0">
                <a:solidFill>
                  <a:srgbClr val="FFFFFF"/>
                </a:solidFill>
                <a:latin typeface="Calibri" pitchFamily="34" charset="0"/>
                <a:ea typeface="Calibri" pitchFamily="34" charset="-122"/>
                <a:cs typeface="Calibri" pitchFamily="34" charset="-120"/>
              </a:rPr>
              <a:t> 0,5%</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E69F00"/>
                </a:solidFill>
                <a:latin typeface="Calibri" pitchFamily="34" charset="0"/>
                <a:ea typeface="Calibri" pitchFamily="34" charset="-122"/>
                <a:cs typeface="Calibri" pitchFamily="34" charset="-120"/>
              </a:rPr>
              <a:t>ISAGEN</a:t>
            </a:r>
            <a:pPr indent="0" marL="0">
              <a:buNone/>
            </a:pPr>
            <a:r>
              <a:rPr lang="en-US" sz="1350" dirty="0">
                <a:solidFill>
                  <a:srgbClr val="FFFFFF"/>
                </a:solidFill>
                <a:latin typeface="Calibri" pitchFamily="34" charset="0"/>
                <a:ea typeface="Calibri" pitchFamily="34" charset="-122"/>
                <a:cs typeface="Calibri" pitchFamily="34" charset="-120"/>
              </a:rPr>
              <a:t> 2,2%</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D55E00"/>
                </a:solidFill>
                <a:latin typeface="Calibri" pitchFamily="34" charset="0"/>
                <a:ea typeface="Calibri" pitchFamily="34" charset="-122"/>
                <a:cs typeface="Calibri" pitchFamily="34" charset="-120"/>
              </a:rPr>
              <a:t>CELSIA</a:t>
            </a:r>
            <a:pPr indent="0" marL="0">
              <a:buNone/>
            </a:pPr>
            <a:r>
              <a:rPr lang="en-US" sz="1350" dirty="0">
                <a:solidFill>
                  <a:srgbClr val="FFFFFF"/>
                </a:solidFill>
                <a:latin typeface="Calibri" pitchFamily="34" charset="0"/>
                <a:ea typeface="Calibri" pitchFamily="34" charset="-122"/>
                <a:cs typeface="Calibri" pitchFamily="34" charset="-120"/>
              </a:rPr>
              <a:t> 2,2%</a:t>
            </a:r>
            <a:endParaRPr lang="en-US" sz="1350" dirty="0"/>
          </a:p>
        </p:txBody>
      </p:sp>
      <p:sp>
        <p:nvSpPr>
          <p:cNvPr id="4" name="Text 2"/>
          <p:cNvSpPr txBox="1"/>
          <p:nvPr/>
        </p:nvSpPr>
        <p:spPr>
          <a:xfrm>
            <a:off x="548640" y="1353312"/>
            <a:ext cx="11091672" cy="310896"/>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Según Altman Z''-EM:   </a:t>
            </a:r>
            <a:pPr indent="0" marL="0">
              <a:buNone/>
            </a:pPr>
            <a:r>
              <a:rPr lang="en-US" sz="1350" b="1" dirty="0">
                <a:solidFill>
                  <a:srgbClr val="009E73"/>
                </a:solidFill>
                <a:latin typeface="Calibri" pitchFamily="34" charset="0"/>
                <a:ea typeface="Calibri" pitchFamily="34" charset="-122"/>
                <a:cs typeface="Calibri" pitchFamily="34" charset="-120"/>
              </a:rPr>
              <a:t>EPM</a:t>
            </a:r>
            <a:pPr indent="0" marL="0">
              <a:buNone/>
            </a:pPr>
            <a:r>
              <a:rPr lang="en-US" sz="1350" dirty="0">
                <a:solidFill>
                  <a:srgbClr val="FFFFFF"/>
                </a:solidFill>
                <a:latin typeface="Calibri" pitchFamily="34" charset="0"/>
                <a:ea typeface="Calibri" pitchFamily="34" charset="-122"/>
                <a:cs typeface="Calibri" pitchFamily="34" charset="-120"/>
              </a:rPr>
              <a:t> 0,2%</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7B3294"/>
                </a:solidFill>
                <a:latin typeface="Calibri" pitchFamily="34" charset="0"/>
                <a:ea typeface="Calibri" pitchFamily="34" charset="-122"/>
                <a:cs typeface="Calibri" pitchFamily="34" charset="-120"/>
              </a:rPr>
              <a:t>ENEL</a:t>
            </a:r>
            <a:pPr indent="0" marL="0">
              <a:buNone/>
            </a:pPr>
            <a:r>
              <a:rPr lang="en-US" sz="1350" dirty="0">
                <a:solidFill>
                  <a:srgbClr val="FFFFFF"/>
                </a:solidFill>
                <a:latin typeface="Calibri" pitchFamily="34" charset="0"/>
                <a:ea typeface="Calibri" pitchFamily="34" charset="-122"/>
                <a:cs typeface="Calibri" pitchFamily="34" charset="-120"/>
              </a:rPr>
              <a:t> 0,5%</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0072B2"/>
                </a:solidFill>
                <a:latin typeface="Calibri" pitchFamily="34" charset="0"/>
                <a:ea typeface="Calibri" pitchFamily="34" charset="-122"/>
                <a:cs typeface="Calibri" pitchFamily="34" charset="-120"/>
              </a:rPr>
              <a:t>ISA</a:t>
            </a:r>
            <a:pPr indent="0" marL="0">
              <a:buNone/>
            </a:pPr>
            <a:r>
              <a:rPr lang="en-US" sz="1350" dirty="0">
                <a:solidFill>
                  <a:srgbClr val="FFFFFF"/>
                </a:solidFill>
                <a:latin typeface="Calibri" pitchFamily="34" charset="0"/>
                <a:ea typeface="Calibri" pitchFamily="34" charset="-122"/>
                <a:cs typeface="Calibri" pitchFamily="34" charset="-120"/>
              </a:rPr>
              <a:t> 2,2%</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E69F00"/>
                </a:solidFill>
                <a:latin typeface="Calibri" pitchFamily="34" charset="0"/>
                <a:ea typeface="Calibri" pitchFamily="34" charset="-122"/>
                <a:cs typeface="Calibri" pitchFamily="34" charset="-120"/>
              </a:rPr>
              <a:t>ISAGEN</a:t>
            </a:r>
            <a:pPr indent="0" marL="0">
              <a:buNone/>
            </a:pPr>
            <a:r>
              <a:rPr lang="en-US" sz="1350" dirty="0">
                <a:solidFill>
                  <a:srgbClr val="FFFFFF"/>
                </a:solidFill>
                <a:latin typeface="Calibri" pitchFamily="34" charset="0"/>
                <a:ea typeface="Calibri" pitchFamily="34" charset="-122"/>
                <a:cs typeface="Calibri" pitchFamily="34" charset="-120"/>
              </a:rPr>
              <a:t> 5,5%</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D55E00"/>
                </a:solidFill>
                <a:latin typeface="Calibri" pitchFamily="34" charset="0"/>
                <a:ea typeface="Calibri" pitchFamily="34" charset="-122"/>
                <a:cs typeface="Calibri" pitchFamily="34" charset="-120"/>
              </a:rPr>
              <a:t>CELSIA</a:t>
            </a:r>
            <a:pPr indent="0" marL="0">
              <a:buNone/>
            </a:pPr>
            <a:r>
              <a:rPr lang="en-US" sz="1350" dirty="0">
                <a:solidFill>
                  <a:srgbClr val="FFFFFF"/>
                </a:solidFill>
                <a:latin typeface="Calibri" pitchFamily="34" charset="0"/>
                <a:ea typeface="Calibri" pitchFamily="34" charset="-122"/>
                <a:cs typeface="Calibri" pitchFamily="34" charset="-120"/>
              </a:rPr>
              <a:t> 5,5%</a:t>
            </a:r>
            <a:endParaRPr lang="en-US" sz="1350" dirty="0"/>
          </a:p>
        </p:txBody>
      </p:sp>
      <p:sp>
        <p:nvSpPr>
          <p:cNvPr id="5" name="Shape 3"/>
          <p:cNvSpPr/>
          <p:nvPr/>
        </p:nvSpPr>
        <p:spPr>
          <a:xfrm>
            <a:off x="548640" y="1810512"/>
            <a:ext cx="5408676" cy="1691640"/>
          </a:xfrm>
          <a:prstGeom prst="roundRect">
            <a:avLst>
              <a:gd name="adj" fmla="val 4324"/>
            </a:avLst>
          </a:prstGeom>
          <a:solidFill>
            <a:srgbClr val="F3F5FA"/>
          </a:solidFill>
          <a:ln w="12700">
            <a:solidFill>
              <a:srgbClr val="F3F5FA"/>
            </a:solidFill>
            <a:prstDash val="solid"/>
          </a:ln>
        </p:spPr>
      </p:sp>
      <p:sp>
        <p:nvSpPr>
          <p:cNvPr id="6" name="Text 4"/>
          <p:cNvSpPr txBox="1"/>
          <p:nvPr/>
        </p:nvSpPr>
        <p:spPr>
          <a:xfrm>
            <a:off x="777240" y="1938528"/>
            <a:ext cx="4951476"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El apalancamiento solo no basta</a:t>
            </a:r>
            <a:endParaRPr lang="en-US" sz="1400" dirty="0"/>
          </a:p>
        </p:txBody>
      </p:sp>
      <p:sp>
        <p:nvSpPr>
          <p:cNvPr id="7" name="Text 5"/>
          <p:cNvSpPr txBox="1"/>
          <p:nvPr/>
        </p:nvSpPr>
        <p:spPr>
          <a:xfrm>
            <a:off x="777240" y="2313432"/>
            <a:ext cx="4951476" cy="10972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ISA es la más endeudada de las cinco, con 4,27 veces EBITDA, y queda tercera. Su deuda es la más barata y su negocio es transmisión regulada. Quien más debe no es quien más riesgo tiene.</a:t>
            </a:r>
            <a:endParaRPr lang="en-US" sz="1150" dirty="0"/>
          </a:p>
        </p:txBody>
      </p:sp>
      <p:sp>
        <p:nvSpPr>
          <p:cNvPr id="8" name="Shape 6"/>
          <p:cNvSpPr/>
          <p:nvPr/>
        </p:nvSpPr>
        <p:spPr>
          <a:xfrm>
            <a:off x="6231636" y="1810512"/>
            <a:ext cx="5408676" cy="1691640"/>
          </a:xfrm>
          <a:prstGeom prst="roundRect">
            <a:avLst>
              <a:gd name="adj" fmla="val 4324"/>
            </a:avLst>
          </a:prstGeom>
          <a:solidFill>
            <a:srgbClr val="F3F5FA"/>
          </a:solidFill>
          <a:ln w="12700">
            <a:solidFill>
              <a:srgbClr val="F3F5FA"/>
            </a:solidFill>
            <a:prstDash val="solid"/>
          </a:ln>
        </p:spPr>
      </p:sp>
      <p:sp>
        <p:nvSpPr>
          <p:cNvPr id="9" name="Text 7"/>
          <p:cNvSpPr txBox="1"/>
          <p:nvPr/>
        </p:nvSpPr>
        <p:spPr>
          <a:xfrm>
            <a:off x="6460236" y="1938528"/>
            <a:ext cx="4951476"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El negocio pesa tanto como el balance</a:t>
            </a:r>
            <a:endParaRPr lang="en-US" sz="1400" dirty="0"/>
          </a:p>
        </p:txBody>
      </p:sp>
      <p:sp>
        <p:nvSpPr>
          <p:cNvPr id="10" name="Text 8"/>
          <p:cNvSpPr txBox="1"/>
          <p:nvPr/>
        </p:nvSpPr>
        <p:spPr>
          <a:xfrm>
            <a:off x="6460236" y="2313432"/>
            <a:ext cx="4951476" cy="10972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ISA y Celsia tienen el mismo perfil financiero y terminan a dos escalones de distancia, solo por el perfil de negocio. Si lo hubiera supuesto igual para todos, ese hallazgo no aparece.</a:t>
            </a:r>
            <a:endParaRPr lang="en-US" sz="1150" dirty="0"/>
          </a:p>
        </p:txBody>
      </p:sp>
      <p:sp>
        <p:nvSpPr>
          <p:cNvPr id="11" name="Shape 9"/>
          <p:cNvSpPr/>
          <p:nvPr/>
        </p:nvSpPr>
        <p:spPr>
          <a:xfrm>
            <a:off x="548640" y="3703320"/>
            <a:ext cx="5408676" cy="1691640"/>
          </a:xfrm>
          <a:prstGeom prst="roundRect">
            <a:avLst>
              <a:gd name="adj" fmla="val 4324"/>
            </a:avLst>
          </a:prstGeom>
          <a:solidFill>
            <a:srgbClr val="F3F5FA"/>
          </a:solidFill>
          <a:ln w="12700">
            <a:solidFill>
              <a:srgbClr val="F3F5FA"/>
            </a:solidFill>
            <a:prstDash val="solid"/>
          </a:ln>
        </p:spPr>
      </p:sp>
      <p:sp>
        <p:nvSpPr>
          <p:cNvPr id="12" name="Text 10"/>
          <p:cNvSpPr txBox="1"/>
          <p:nvPr/>
        </p:nvSpPr>
        <p:spPr>
          <a:xfrm>
            <a:off x="777240" y="3831336"/>
            <a:ext cx="4951476"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Dos modelos, un diagnóstico y una discrepancia</a:t>
            </a:r>
            <a:endParaRPr lang="en-US" sz="1400" dirty="0"/>
          </a:p>
        </p:txBody>
      </p:sp>
      <p:sp>
        <p:nvSpPr>
          <p:cNvPr id="13" name="Text 11"/>
          <p:cNvSpPr txBox="1"/>
          <p:nvPr/>
        </p:nvSpPr>
        <p:spPr>
          <a:xfrm>
            <a:off x="777240" y="4206240"/>
            <a:ext cx="4951476" cy="10972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S&amp;P y Altman coinciden en cuatro de cinco emisores pese a usar insumos distintos. Discrepan en ISA, y como ninguno de los cinco tiene calificación de agencia, esa divergencia se explica, no se resuelve.</a:t>
            </a:r>
            <a:endParaRPr lang="en-US" sz="1150" dirty="0"/>
          </a:p>
        </p:txBody>
      </p:sp>
      <p:sp>
        <p:nvSpPr>
          <p:cNvPr id="14" name="Shape 12"/>
          <p:cNvSpPr/>
          <p:nvPr/>
        </p:nvSpPr>
        <p:spPr>
          <a:xfrm>
            <a:off x="6231636" y="3703320"/>
            <a:ext cx="5408676" cy="1691640"/>
          </a:xfrm>
          <a:prstGeom prst="roundRect">
            <a:avLst>
              <a:gd name="adj" fmla="val 4324"/>
            </a:avLst>
          </a:prstGeom>
          <a:solidFill>
            <a:srgbClr val="F3F5FA"/>
          </a:solidFill>
          <a:ln w="12700">
            <a:solidFill>
              <a:srgbClr val="F3F5FA"/>
            </a:solidFill>
            <a:prstDash val="solid"/>
          </a:ln>
        </p:spPr>
      </p:sp>
      <p:sp>
        <p:nvSpPr>
          <p:cNvPr id="15" name="Text 13"/>
          <p:cNvSpPr txBox="1"/>
          <p:nvPr/>
        </p:nvSpPr>
        <p:spPr>
          <a:xfrm>
            <a:off x="6460236" y="3831336"/>
            <a:ext cx="4951476"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La liquidez rompe el empate</a:t>
            </a:r>
            <a:endParaRPr lang="en-US" sz="1400" dirty="0"/>
          </a:p>
        </p:txBody>
      </p:sp>
      <p:sp>
        <p:nvSpPr>
          <p:cNvPr id="16" name="Text 14"/>
          <p:cNvSpPr txBox="1"/>
          <p:nvPr/>
        </p:nvSpPr>
        <p:spPr>
          <a:xfrm>
            <a:off x="6460236" y="4206240"/>
            <a:ext cx="4951476" cy="10972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Celsia e ISAGEN quedan en la misma clasificación. Lo que pone a Celsia de última es la liquidez: 0,41 veces, la peor de las cinco, y es la única que cruza el umbral de cobertura con cualquier golpe.</a:t>
            </a:r>
            <a:endParaRPr lang="en-US" sz="1150" dirty="0"/>
          </a:p>
        </p:txBody>
      </p:sp>
      <p:sp>
        <p:nvSpPr>
          <p:cNvPr id="17" name="Text 15"/>
          <p:cNvSpPr txBox="1"/>
          <p:nvPr/>
        </p:nvSpPr>
        <p:spPr>
          <a:xfrm>
            <a:off x="548640" y="5532120"/>
            <a:ext cx="11091672" cy="914400"/>
          </a:xfrm>
          <a:prstGeom prst="rect">
            <a:avLst/>
          </a:prstGeom>
          <a:noFill/>
          <a:ln/>
        </p:spPr>
        <p:txBody>
          <a:bodyPr wrap="square" lIns="0" tIns="0" rIns="0" bIns="0" rtlCol="0" anchor="t"/>
          <a:lstStyle/>
          <a:p>
            <a:pPr indent="0" marL="0">
              <a:buNone/>
            </a:pPr>
            <a:r>
              <a:rPr lang="en-US" sz="1100" b="1" dirty="0">
                <a:solidFill>
                  <a:srgbClr val="CADCFC"/>
                </a:solidFill>
                <a:latin typeface="Calibri" pitchFamily="34" charset="0"/>
                <a:ea typeface="Calibri" pitchFamily="34" charset="-122"/>
                <a:cs typeface="Calibri" pitchFamily="34" charset="-120"/>
              </a:rPr>
              <a:t>Limitaciones que declaro: </a:t>
            </a:r>
            <a:pPr indent="0" marL="0">
              <a:buNone/>
            </a:pPr>
            <a:r>
              <a:rPr lang="en-US" sz="1100" dirty="0">
                <a:solidFill>
                  <a:srgbClr val="FFFFFF"/>
                </a:solidFill>
                <a:latin typeface="Calibri" pitchFamily="34" charset="0"/>
                <a:ea typeface="Calibri" pitchFamily="34" charset="-122"/>
                <a:cs typeface="Calibri" pitchFamily="34" charset="-120"/>
              </a:rPr>
              <a:t>la clasificación no es una calificación, le falta el tope por riesgo soberano; las PD son tasas históricas globales, no colombianas; ningún emisor revela líneas de crédito comprometidas, así que la liquidez se reporta aparte; en Altman no se aplican los ajustes cualitativos por soberano y moneda.</a:t>
            </a:r>
            <a:endParaRPr lang="en-US" sz="1100" dirty="0"/>
          </a:p>
          <a:p>
            <a:pPr indent="0" marL="0">
              <a:buNone/>
            </a:pPr>
            <a:r>
              <a:rPr lang="en-US" sz="1100" b="1" dirty="0">
                <a:solidFill>
                  <a:srgbClr val="CADCFC"/>
                </a:solidFill>
                <a:latin typeface="Calibri" pitchFamily="34" charset="0"/>
                <a:ea typeface="Calibri" pitchFamily="34" charset="-122"/>
                <a:cs typeface="Calibri" pitchFamily="34" charset="-120"/>
              </a:rPr>
              <a:t>Con más tiempo: </a:t>
            </a:r>
            <a:pPr indent="0" marL="0">
              <a:buNone/>
            </a:pPr>
            <a:r>
              <a:rPr lang="en-US" sz="1100" dirty="0">
                <a:solidFill>
                  <a:srgbClr val="FFFFFF"/>
                </a:solidFill>
                <a:latin typeface="Calibri" pitchFamily="34" charset="0"/>
                <a:ea typeface="Calibri" pitchFamily="34" charset="-122"/>
                <a:cs typeface="Calibri" pitchFamily="34" charset="-120"/>
              </a:rPr>
              <a:t>Merton/KMV para las dos que cotizan, FFO/deuda como ratio núcleo, y el tope por riesgo soberano.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2026-09-17T21:02:04Z</dcterms:created>
  <dcterms:modified xsi:type="dcterms:W3CDTF">2026-09-17T21:02:04Z</dcterms:modified>
</cp:coreProperties>
</file>